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9" r:id="rId4"/>
  </p:sldMasterIdLst>
  <p:notesMasterIdLst>
    <p:notesMasterId r:id="rId100"/>
  </p:notesMasterIdLst>
  <p:handoutMasterIdLst>
    <p:handoutMasterId r:id="rId101"/>
  </p:handoutMasterIdLst>
  <p:sldIdLst>
    <p:sldId id="811" r:id="rId5"/>
    <p:sldId id="772" r:id="rId6"/>
    <p:sldId id="1371" r:id="rId7"/>
    <p:sldId id="815" r:id="rId8"/>
    <p:sldId id="1367" r:id="rId9"/>
    <p:sldId id="1369" r:id="rId10"/>
    <p:sldId id="1426" r:id="rId11"/>
    <p:sldId id="973" r:id="rId12"/>
    <p:sldId id="947" r:id="rId13"/>
    <p:sldId id="1032" r:id="rId14"/>
    <p:sldId id="888" r:id="rId15"/>
    <p:sldId id="1444" r:id="rId16"/>
    <p:sldId id="1249" r:id="rId17"/>
    <p:sldId id="1033" r:id="rId18"/>
    <p:sldId id="1246" r:id="rId19"/>
    <p:sldId id="1247" r:id="rId20"/>
    <p:sldId id="936" r:id="rId21"/>
    <p:sldId id="1274" r:id="rId22"/>
    <p:sldId id="1250" r:id="rId23"/>
    <p:sldId id="1318" r:id="rId24"/>
    <p:sldId id="1251" r:id="rId25"/>
    <p:sldId id="1273" r:id="rId26"/>
    <p:sldId id="1281" r:id="rId27"/>
    <p:sldId id="1289" r:id="rId28"/>
    <p:sldId id="1288" r:id="rId29"/>
    <p:sldId id="1286" r:id="rId30"/>
    <p:sldId id="1284" r:id="rId31"/>
    <p:sldId id="1325" r:id="rId32"/>
    <p:sldId id="1324" r:id="rId33"/>
    <p:sldId id="1348" r:id="rId34"/>
    <p:sldId id="1272" r:id="rId35"/>
    <p:sldId id="1445" r:id="rId36"/>
    <p:sldId id="1437" r:id="rId37"/>
    <p:sldId id="1434" r:id="rId38"/>
    <p:sldId id="1427" r:id="rId39"/>
    <p:sldId id="1269" r:id="rId40"/>
    <p:sldId id="1262" r:id="rId41"/>
    <p:sldId id="1439" r:id="rId42"/>
    <p:sldId id="1271" r:id="rId43"/>
    <p:sldId id="1253" r:id="rId44"/>
    <p:sldId id="1259" r:id="rId45"/>
    <p:sldId id="1256" r:id="rId46"/>
    <p:sldId id="1257" r:id="rId47"/>
    <p:sldId id="1265" r:id="rId48"/>
    <p:sldId id="1440" r:id="rId49"/>
    <p:sldId id="1261" r:id="rId50"/>
    <p:sldId id="1263" r:id="rId51"/>
    <p:sldId id="1264" r:id="rId52"/>
    <p:sldId id="986" r:id="rId53"/>
    <p:sldId id="1436" r:id="rId54"/>
    <p:sldId id="1280" r:id="rId55"/>
    <p:sldId id="1446" r:id="rId56"/>
    <p:sldId id="1447" r:id="rId57"/>
    <p:sldId id="1428" r:id="rId58"/>
    <p:sldId id="1270" r:id="rId59"/>
    <p:sldId id="1267" r:id="rId60"/>
    <p:sldId id="1268" r:id="rId61"/>
    <p:sldId id="1449" r:id="rId62"/>
    <p:sldId id="1298" r:id="rId63"/>
    <p:sldId id="1302" r:id="rId64"/>
    <p:sldId id="1303" r:id="rId65"/>
    <p:sldId id="1304" r:id="rId66"/>
    <p:sldId id="1305" r:id="rId67"/>
    <p:sldId id="1346" r:id="rId68"/>
    <p:sldId id="1443" r:id="rId69"/>
    <p:sldId id="1292" r:id="rId70"/>
    <p:sldId id="1299" r:id="rId71"/>
    <p:sldId id="1300" r:id="rId72"/>
    <p:sldId id="1301" r:id="rId73"/>
    <p:sldId id="1345" r:id="rId74"/>
    <p:sldId id="1451" r:id="rId75"/>
    <p:sldId id="1429" r:id="rId76"/>
    <p:sldId id="1314" r:id="rId77"/>
    <p:sldId id="1315" r:id="rId78"/>
    <p:sldId id="1317" r:id="rId79"/>
    <p:sldId id="1316" r:id="rId80"/>
    <p:sldId id="1309" r:id="rId81"/>
    <p:sldId id="1431" r:id="rId82"/>
    <p:sldId id="1343" r:id="rId83"/>
    <p:sldId id="1349" r:id="rId84"/>
    <p:sldId id="1319" r:id="rId85"/>
    <p:sldId id="1450" r:id="rId86"/>
    <p:sldId id="1321" r:id="rId87"/>
    <p:sldId id="1322" r:id="rId88"/>
    <p:sldId id="1320" r:id="rId89"/>
    <p:sldId id="1347" r:id="rId90"/>
    <p:sldId id="1306" r:id="rId91"/>
    <p:sldId id="1307" r:id="rId92"/>
    <p:sldId id="1341" r:id="rId93"/>
    <p:sldId id="1311" r:id="rId94"/>
    <p:sldId id="1342" r:id="rId95"/>
    <p:sldId id="1441" r:id="rId96"/>
    <p:sldId id="1442" r:id="rId97"/>
    <p:sldId id="1344" r:id="rId98"/>
    <p:sldId id="1022" r:id="rId99"/>
  </p:sldIdLst>
  <p:sldSz cx="12192000" cy="6858000"/>
  <p:notesSz cx="7104063" cy="10234613"/>
  <p:embeddedFontLst>
    <p:embeddedFont>
      <p:font typeface="Aptos Narrow" panose="020B0004020202020204" pitchFamily="34" charset="0"/>
      <p:regular r:id="rId102"/>
      <p:bold r:id="rId103"/>
      <p:italic r:id="rId104"/>
      <p:boldItalic r:id="rId105"/>
    </p:embeddedFont>
    <p:embeddedFont>
      <p:font typeface="Consolas" panose="020B0609020204030204" pitchFamily="49" charset="0"/>
      <p:regular r:id="rId106"/>
      <p:bold r:id="rId107"/>
      <p:italic r:id="rId108"/>
      <p:boldItalic r:id="rId109"/>
    </p:embeddedFont>
    <p:embeddedFont>
      <p:font typeface="Segoe UI" panose="020B0502040204020203" pitchFamily="34" charset="0"/>
      <p:regular r:id="rId110"/>
      <p:bold r:id="rId111"/>
      <p:italic r:id="rId112"/>
      <p:boldItalic r:id="rId113"/>
    </p:embeddedFont>
    <p:embeddedFont>
      <p:font typeface="Segoe UI Light" panose="020B0502040204020203" pitchFamily="34" charset="0"/>
      <p:regular r:id="rId114"/>
      <p:italic r:id="rId115"/>
    </p:embeddedFont>
    <p:embeddedFont>
      <p:font typeface="Source Sans Pro" panose="020B0503030403020204" pitchFamily="34" charset="0"/>
      <p:regular r:id="rId116"/>
      <p:bold r:id="rId117"/>
      <p:italic r:id="rId118"/>
      <p:boldItalic r:id="rId119"/>
    </p:embeddedFont>
  </p:embeddedFontLst>
  <p:custDataLst>
    <p:tags r:id="rId120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7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Stéphane GOBIN" initials="" lastIdx="0" clrIdx="6"/>
  <p:cmAuthor id="1" name="Sarah BOUTER" initials="SB" lastIdx="9" clrIdx="0">
    <p:extLst>
      <p:ext uri="{19B8F6BF-5375-455C-9EA6-DF929625EA0E}">
        <p15:presenceInfo xmlns:p15="http://schemas.microsoft.com/office/powerpoint/2012/main" userId="S-1-5-21-1801674531-1897051121-839522115-8424" providerId="AD"/>
      </p:ext>
    </p:extLst>
  </p:cmAuthor>
  <p:cmAuthor id="2" name="Thierry RICHARD" initials="TR" lastIdx="1" clrIdx="1">
    <p:extLst>
      <p:ext uri="{19B8F6BF-5375-455C-9EA6-DF929625EA0E}">
        <p15:presenceInfo xmlns:p15="http://schemas.microsoft.com/office/powerpoint/2012/main" userId="Thierry RICHARD" providerId="None"/>
      </p:ext>
    </p:extLst>
  </p:cmAuthor>
  <p:cmAuthor id="3" name="RICHARD Thierry Admin" initials="RTA" lastIdx="3" clrIdx="2">
    <p:extLst>
      <p:ext uri="{19B8F6BF-5375-455C-9EA6-DF929625EA0E}">
        <p15:presenceInfo xmlns:p15="http://schemas.microsoft.com/office/powerpoint/2012/main" userId="RICHARD Thierry Admin" providerId="None"/>
      </p:ext>
    </p:extLst>
  </p:cmAuthor>
  <p:cmAuthor id="4" name="Barthe, Karine (EXT - FR/Lannion)" initials="BK(F" lastIdx="1" clrIdx="3">
    <p:extLst>
      <p:ext uri="{19B8F6BF-5375-455C-9EA6-DF929625EA0E}">
        <p15:presenceInfo xmlns:p15="http://schemas.microsoft.com/office/powerpoint/2012/main" userId="Barthe, Karine (EXT - FR/Lannion)" providerId="None"/>
      </p:ext>
    </p:extLst>
  </p:cmAuthor>
  <p:cmAuthor id="5" name="Sabrina Kuhn" initials="SK" lastIdx="10" clrIdx="4">
    <p:extLst>
      <p:ext uri="{19B8F6BF-5375-455C-9EA6-DF929625EA0E}">
        <p15:presenceInfo xmlns:p15="http://schemas.microsoft.com/office/powerpoint/2012/main" userId="S-1-5-21-1801674531-1897051121-839522115-20220" providerId="AD"/>
      </p:ext>
    </p:extLst>
  </p:cmAuthor>
  <p:cmAuthor id="6" name="Emilie VILLETORTE" initials="EV" lastIdx="1" clrIdx="5">
    <p:extLst>
      <p:ext uri="{19B8F6BF-5375-455C-9EA6-DF929625EA0E}">
        <p15:presenceInfo xmlns:p15="http://schemas.microsoft.com/office/powerpoint/2012/main" userId="S::evilletorte@eni.fr::60a890f2-81d8-4a9a-b988-47c91ea199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5B258"/>
    <a:srgbClr val="AAD23B"/>
    <a:srgbClr val="4AA5B7"/>
    <a:srgbClr val="011F39"/>
    <a:srgbClr val="E6E6E6"/>
    <a:srgbClr val="06516F"/>
    <a:srgbClr val="3B518E"/>
    <a:srgbClr val="5B9BD5"/>
    <a:srgbClr val="01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35" autoAdjust="0"/>
    <p:restoredTop sz="92288" autoAdjust="0"/>
  </p:normalViewPr>
  <p:slideViewPr>
    <p:cSldViewPr snapToGrid="0">
      <p:cViewPr varScale="1">
        <p:scale>
          <a:sx n="103" d="100"/>
          <a:sy n="103" d="100"/>
        </p:scale>
        <p:origin x="282" y="-114"/>
      </p:cViewPr>
      <p:guideLst>
        <p:guide orient="horz" pos="2160"/>
        <p:guide pos="3840"/>
        <p:guide pos="277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font" Target="fonts/font16.fntdata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font" Target="fonts/font11.fntdata"/><Relationship Id="rId16" Type="http://schemas.openxmlformats.org/officeDocument/2006/relationships/slide" Target="slides/slide12.xml"/><Relationship Id="rId107" Type="http://schemas.openxmlformats.org/officeDocument/2006/relationships/font" Target="fonts/font6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font" Target="fonts/font1.fntdata"/><Relationship Id="rId123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notesMaster" Target="notesMasters/notesMaster1.xml"/><Relationship Id="rId105" Type="http://schemas.openxmlformats.org/officeDocument/2006/relationships/font" Target="fonts/font4.fntdata"/><Relationship Id="rId113" Type="http://schemas.openxmlformats.org/officeDocument/2006/relationships/font" Target="fonts/font12.fntdata"/><Relationship Id="rId118" Type="http://schemas.openxmlformats.org/officeDocument/2006/relationships/font" Target="fonts/font17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font" Target="fonts/font2.fntdata"/><Relationship Id="rId108" Type="http://schemas.openxmlformats.org/officeDocument/2006/relationships/font" Target="fonts/font7.fntdata"/><Relationship Id="rId116" Type="http://schemas.openxmlformats.org/officeDocument/2006/relationships/font" Target="fonts/font15.fntdata"/><Relationship Id="rId124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font" Target="fonts/font5.fntdata"/><Relationship Id="rId114" Type="http://schemas.openxmlformats.org/officeDocument/2006/relationships/font" Target="fonts/font13.fntdata"/><Relationship Id="rId119" Type="http://schemas.openxmlformats.org/officeDocument/2006/relationships/font" Target="fonts/font1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handoutMaster" Target="handoutMasters/handoutMaster1.xml"/><Relationship Id="rId12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8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font" Target="fonts/font3.fntdata"/><Relationship Id="rId120" Type="http://schemas.openxmlformats.org/officeDocument/2006/relationships/tags" Target="tags/tag1.xml"/><Relationship Id="rId125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font" Target="fonts/font9.fntdata"/><Relationship Id="rId115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A8EB9EB-B186-4F9A-9F85-BBB1D65C7589}" type="datetimeFigureOut">
              <a:rPr lang="fr-FR" smtClean="0">
                <a:latin typeface="Segoe UI" panose="020B0502040204020203" pitchFamily="34" charset="0"/>
              </a:rPr>
              <a:t>03/07/2026</a:t>
            </a:fld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611C90E-7C5C-4FC7-8E56-A2E921698B81}" type="slidenum">
              <a:rPr lang="fr-FR" smtClean="0">
                <a:latin typeface="Segoe UI" panose="020B0502040204020203" pitchFamily="34" charset="0"/>
              </a:rPr>
              <a:t>‹N°›</a:t>
            </a:fld>
            <a:endParaRPr lang="fr-FR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908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E63BDECB-E14E-459C-896C-A883D5960C42}" type="datetimeFigureOut">
              <a:rPr lang="fr-FR" smtClean="0"/>
              <a:pPr/>
              <a:t>03/07/2026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00CA5B4E-61E0-4854-9785-88AF627D622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8058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7410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640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110F-1422-E077-CB5A-FB60C860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BCDA91-B71B-C275-DBB6-C649CE107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847BE3-F45F-33BC-FC7E-B86E3C1E3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692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6A5B-F6ED-0E65-7AC3-F5A7C503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D58CE33-4845-E187-8A77-2D8FD7AD7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CA9E65-1C49-F7E3-1535-F42B88822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387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961A1-4C63-9C70-436E-2215071B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68713B-A019-0961-6F70-9017E7EA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9E4C5D9-0A79-CB34-B8A4-E344C87D7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70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0EAE-686C-A952-43E7-44A2CC9C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3DC07B-0E48-E934-DCA3-ADDE527B4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B1EC3D-9211-D630-47ED-B12169843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881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B4A3-6465-6819-022C-3376A020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76ACE7-90CB-9CBC-28DE-3260DB780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943C37-992B-1BC9-602D-7079B02D2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99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77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CCA3-A8A5-17A9-3C5A-B0BE2D23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0736A3-B9D5-0D60-1362-3BD3943F8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A01611E-9E98-F463-EF53-77B002DDD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744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4B7E-D95C-6E18-B6F9-0355A492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4B2A25-9DBF-AEF7-BEB5-75F809D57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342870-22FA-CA06-D2D4-C88582EA6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739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DDDA-0290-CAB6-B27D-3BA606416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F6E47F-B23E-6E6E-28D8-E9343259E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E3ED9D-44F8-BE85-D081-D0451C9AF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04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B5F9-0C46-E6AF-C3DA-5B0E333A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DE07F1-A249-6CD7-C0FE-84A297F6E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C38004-A9CA-B333-798F-17BC01E06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139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2E6D-3BF2-327A-BB26-D5C26B1B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ACCE1FE-FB20-676B-456A-4B224791F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5A9C72-9988-2916-321C-00A6E5A2D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324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6AFB-A2AB-8791-FF5B-53094C6B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2CDE55-D76A-EEC5-EC0B-6631C824F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2618F9-642F-5FD1-2A2E-A691AF12A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372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FA50-822A-A173-D326-2B16033E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B6B4DB-24AF-DB5D-8E58-ADF32D6BD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DEC93D7-853B-C6D2-7D82-1F497770F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509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389A-10C9-6B55-70BD-20D40F1B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D152DD-7E5C-FFE3-5118-245EC3C68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D2F82C-51AE-FA75-8E89-8F67AF5B3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007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2A36-A3FD-09BE-7B84-6EA1EA95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6A5DB4-2E2D-96FE-02F4-C643D3282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4FD01B-A648-5226-5170-339CBEA3B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193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94D1-283A-480E-69C6-34A8416E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9724BA-0752-3F4B-5FAB-B34B11B81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5C39FA-7252-7953-D577-EE2EDF888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2774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0DF7-2994-05EC-CD45-2894D90C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2E4AC3-EAD3-F743-F40B-757C21502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EC0ABA-5A31-59F1-461D-F6CA59021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362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CA52-FDB4-B4CB-2FD8-B8A812E5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DA8814-3FDF-FE4A-8F1C-59EC8570C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E111D2-CA8D-064C-8A3A-5B25AB4D9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104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0932-3EA0-95B1-3067-4662CF1A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1CDF7A-6709-1324-104E-1583BD1F4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51F73F-C16C-A63D-30CB-78629FBD8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21518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F6C5-30E3-851D-6E89-6BD9ACF5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3690B6-CCA9-156A-F745-7B069C205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7A28A2-9995-0DBB-6CE8-DC5B3790F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198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4BED4-8CDA-1403-0687-1F8CCCF08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908E196-4503-323F-0D43-3B042D6F1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762CD0-802C-2985-20BB-85D95B7DA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896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224C-F469-5A22-FB11-A44D0636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ADADC7-1296-CD26-E27E-F69915166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025E63-ACFF-94B4-A1C7-89C0C3D06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4475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1CD2C-CB87-B922-3152-EDA1299D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46FC3B-49CA-1BF8-4212-E2D95174B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A86320-BD0E-EC25-5CC2-F22FB6524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4801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06DF-3F50-D0DE-AEF3-6CF18C46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6168A4-AE64-DB75-E7A7-C99528307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C6C77E-6840-FEAF-1421-F38AC5683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2471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6204A-3E03-57A8-B13F-282A403E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3D971E-8270-63AD-31D6-E57B7626F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38181C-3DEB-D0E9-D1FD-DA82BE3E6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436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C35E-3397-BE8A-4BAA-D827BD05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0135EC-A595-0B26-E22C-00689E456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3E229A-A390-875C-8702-06B3AD07B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1809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6D52-0743-256B-B5EB-9F9624933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82F9532-4E9E-58BD-0A0A-ECF1256D2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4E5C78-29DE-4B5E-1DE3-A5FF6E49D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1283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29753-2134-2301-8669-AEB80324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87A428-E5CF-8104-1042-511767FBE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667C21-C342-4067-3DAD-830626516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73860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DD89-96FF-7C0E-3B65-6FCAE069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3FE3AC-0616-EC57-07CE-74347FEBB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9FB9CD-430B-0F66-B9F0-F2914A254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5516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2230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03F6-4825-1C31-CC2E-7717835A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9DB0BC-7967-9A10-949C-D452C9DF2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35D452-B5A2-422F-FC97-F1BBE4BD7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7789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12E2-F69E-F6F9-10E5-52D2F13F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B8F1A33-6DD1-91C8-CF90-CDD54351B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D510A5-68BE-82AF-5D14-3522678E4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4003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7881D-CB4E-F857-365A-230B59F7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BFE1AE-7D0E-3B8A-FF36-8E0F696B6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23BD72-4E06-5BC5-9828-AA5A83B86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3988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C9EA2-0371-CD75-3BC6-6DFFFFEC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8594BA-5768-00E0-4A8F-DC82C2BA5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EC62387-7EC4-0897-A806-6AAC7862C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4271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9DA3-A6FB-1235-CBA8-46B393B0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3043FC-1086-3942-9945-95DEBF42C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2863731-4AC5-E758-76FA-45803AB79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179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7D4E0-6619-8FDF-0ABC-7006F6E4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C3D1C02-4EF7-75C4-D7B7-26F254DF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9C4167-10F3-C059-A592-1C5B99CCB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3692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13C8-22F8-93A8-F8EE-0625C9A4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B7642C-CD91-203A-62A7-F2208242A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F163728-6631-6948-8E56-A439A8C7B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58380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0752-C47F-4877-C79F-7680E2B7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A817E96-2764-792C-CE58-E644CB12D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E74CCE-070C-FF25-BB81-CBE65F746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3472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236FB-79B8-C324-4B8B-15974821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67F7DE-139D-9E89-E632-00374BBC1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2B8760-186F-F7C8-A93B-D291DD80C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95342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81E6-1673-63FB-C6EF-0D9164C5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BEEADF-1056-6FA3-5BF8-64F7B3FC9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512814-C7F4-D345-48DA-8BCEF6C47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3596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5572-9123-4E17-88ED-B4ADEFFC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544555-CA2F-FA7E-0AC8-A7A33AA06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00207A-FC55-4258-E36A-979939C5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575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66F3-08E0-839A-9CC9-F43C619A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67AADF-EBB8-2866-4CCA-45455FEE8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EB48FC-7C98-80A6-08B2-5675CDA1F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85929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92831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E865-D660-D805-D4F2-B4E179EC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05B9A4-A46C-0D5C-41E1-58E5366D2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4B14F0-A499-8B0B-AB17-EECCFF45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77116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FFE5-A6E6-F77A-DBB2-ECB09FE3F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2DB46B-7D53-4107-732A-BC2221F0E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239DE35-6802-05DE-D67B-38B596D2F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3882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9712-377B-5BF3-4F38-09A8BF1E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CED25C-6F9F-1A64-2183-7ABA36951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110C70-F4D2-B64E-B616-D0C05D08B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7070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04540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B601-E880-94DC-63C1-57755455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A6E959-6138-99F2-96C6-A40372758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28C08D-BB99-91EC-DD28-3154DDE97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7360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591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65776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COUV SLIDE">
    <p:bg>
      <p:bgPr>
        <a:solidFill>
          <a:srgbClr val="22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1689099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/>
              <a:t>Titre du cours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68774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rgbClr val="95B25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Numéro du module - Titre du module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538FD0F-57FB-48AB-B25B-B9AEB2B093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116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UV SLIDE">
    <p:bg>
      <p:bgPr>
        <a:solidFill>
          <a:srgbClr val="3B51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1689099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/>
              <a:t>Titre du cours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68774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Numéro du module - Titre du module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538FD0F-57FB-48AB-B25B-B9AEB2B093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269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UV SLIDE BL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1689099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2293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fr-FR"/>
              <a:t>Titre du cours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68774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Numéro du module - Titre du module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34905F83-6224-42D1-9773-417C7832021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824536"/>
            <a:ext cx="831821" cy="8318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111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8D67CB-3D42-459B-9239-7A5DBB57DD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4CD37DFD-DBDA-4BDA-9060-2DA6AD4013A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883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394100EE-EC43-469D-8B81-86937495DBE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304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FEC1E22-CB41-4D08-9AB7-FD5BE57DB84E}"/>
              </a:ext>
            </a:extLst>
          </p:cNvPr>
          <p:cNvGrpSpPr/>
          <p:nvPr userDrawn="1"/>
        </p:nvGrpSpPr>
        <p:grpSpPr>
          <a:xfrm>
            <a:off x="0" y="7022130"/>
            <a:ext cx="3013379" cy="324495"/>
            <a:chOff x="2411233" y="2460991"/>
            <a:chExt cx="7675165" cy="82649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634FFA7-A9EF-4270-9C94-D41D7FD2BCC7}"/>
                </a:ext>
              </a:extLst>
            </p:cNvPr>
            <p:cNvSpPr/>
            <p:nvPr/>
          </p:nvSpPr>
          <p:spPr>
            <a:xfrm>
              <a:off x="2411233" y="2460994"/>
              <a:ext cx="826495" cy="826495"/>
            </a:xfrm>
            <a:prstGeom prst="rect">
              <a:avLst/>
            </a:prstGeom>
            <a:solidFill>
              <a:srgbClr val="011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921BEF-5575-4FEE-85A8-095CFB9C4970}"/>
                </a:ext>
              </a:extLst>
            </p:cNvPr>
            <p:cNvSpPr/>
            <p:nvPr/>
          </p:nvSpPr>
          <p:spPr>
            <a:xfrm>
              <a:off x="3552678" y="2460994"/>
              <a:ext cx="826495" cy="826495"/>
            </a:xfrm>
            <a:prstGeom prst="rect">
              <a:avLst/>
            </a:prstGeom>
            <a:solidFill>
              <a:srgbClr val="3B5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4D7B07-4171-4E41-90F2-05A34931EE0D}"/>
                </a:ext>
              </a:extLst>
            </p:cNvPr>
            <p:cNvSpPr/>
            <p:nvPr/>
          </p:nvSpPr>
          <p:spPr>
            <a:xfrm>
              <a:off x="4694123" y="2460994"/>
              <a:ext cx="826495" cy="826495"/>
            </a:xfrm>
            <a:prstGeom prst="rect">
              <a:avLst/>
            </a:prstGeom>
            <a:solidFill>
              <a:srgbClr val="95B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CAF220C-579F-449D-89CB-702A9844192A}"/>
                </a:ext>
              </a:extLst>
            </p:cNvPr>
            <p:cNvSpPr/>
            <p:nvPr/>
          </p:nvSpPr>
          <p:spPr>
            <a:xfrm>
              <a:off x="5835568" y="2460993"/>
              <a:ext cx="826495" cy="826495"/>
            </a:xfrm>
            <a:prstGeom prst="rect">
              <a:avLst/>
            </a:prstGeom>
            <a:solidFill>
              <a:srgbClr val="AAD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1FEC04-9882-44FF-9D2E-14A90AB234A9}"/>
                </a:ext>
              </a:extLst>
            </p:cNvPr>
            <p:cNvSpPr/>
            <p:nvPr/>
          </p:nvSpPr>
          <p:spPr>
            <a:xfrm>
              <a:off x="6977013" y="2460993"/>
              <a:ext cx="826495" cy="826495"/>
            </a:xfrm>
            <a:prstGeom prst="rect">
              <a:avLst/>
            </a:prstGeom>
            <a:solidFill>
              <a:srgbClr val="4AA5B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5FFA532-EF18-4DD7-8996-901694372F23}"/>
                </a:ext>
              </a:extLst>
            </p:cNvPr>
            <p:cNvSpPr/>
            <p:nvPr/>
          </p:nvSpPr>
          <p:spPr>
            <a:xfrm>
              <a:off x="8118458" y="2460992"/>
              <a:ext cx="826495" cy="826495"/>
            </a:xfrm>
            <a:prstGeom prst="rect">
              <a:avLst/>
            </a:prstGeom>
            <a:solidFill>
              <a:srgbClr val="016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056ECF8-5A1A-4331-A5CC-4160C7283752}"/>
                </a:ext>
              </a:extLst>
            </p:cNvPr>
            <p:cNvSpPr/>
            <p:nvPr/>
          </p:nvSpPr>
          <p:spPr>
            <a:xfrm>
              <a:off x="9259903" y="2460991"/>
              <a:ext cx="826495" cy="826495"/>
            </a:xfrm>
            <a:prstGeom prst="rect">
              <a:avLst/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8BC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custDataLst>
      <p:tags r:id="rId8"/>
    </p:custDataLst>
    <p:extLst>
      <p:ext uri="{BB962C8B-B14F-4D97-AF65-F5344CB8AC3E}">
        <p14:creationId xmlns:p14="http://schemas.microsoft.com/office/powerpoint/2010/main" val="43460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6" r:id="rId2"/>
    <p:sldLayoutId id="2147483723" r:id="rId3"/>
    <p:sldLayoutId id="2147483701" r:id="rId4"/>
    <p:sldLayoutId id="2147483702" r:id="rId5"/>
    <p:sldLayoutId id="2147483724" r:id="rId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hyperlink" Target="https://code.visualstudio.com/" TargetMode="Externa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hyperlink" Target="https://demo.guru99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playwright.dev/docs/api/class-locator#locator-focus" TargetMode="External"/><Relationship Id="rId3" Type="http://schemas.openxmlformats.org/officeDocument/2006/relationships/image" Target="../media/image2.svg"/><Relationship Id="rId7" Type="http://schemas.openxmlformats.org/officeDocument/2006/relationships/hyperlink" Target="https://playwright.dev/docs/api/class-locator#locator-uncheck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ywright.dev/docs/api/class-locator#locator-hover" TargetMode="External"/><Relationship Id="rId5" Type="http://schemas.openxmlformats.org/officeDocument/2006/relationships/hyperlink" Target="https://playwright.dev/docs/api/class-locator#locator-check" TargetMode="External"/><Relationship Id="rId4" Type="http://schemas.openxmlformats.org/officeDocument/2006/relationships/hyperlink" Target="https://playwright.dev/docs/api/class-locator#locator-click" TargetMode="External"/><Relationship Id="rId9" Type="http://schemas.openxmlformats.org/officeDocument/2006/relationships/hyperlink" Target="https://playwright.dev/docs/api/class-locator#locator-fil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eo.api.gouv.fr/decoupage-administratif/communes" TargetMode="External"/><Relationship Id="rId4" Type="http://schemas.openxmlformats.org/officeDocument/2006/relationships/image" Target="../media/image1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265574-43AB-41F0-A41B-29676FE664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4085B9-204F-4210-8395-B413A38539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7780"/>
          <a:stretch/>
        </p:blipFill>
        <p:spPr>
          <a:xfrm>
            <a:off x="1" y="0"/>
            <a:ext cx="3470988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3819525" y="2797887"/>
            <a:ext cx="8017952" cy="2387600"/>
          </a:xfrm>
          <a:noFill/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FR" b="1" spc="-1" dirty="0" err="1">
                <a:solidFill>
                  <a:srgbClr val="FFFFFF"/>
                </a:solidFill>
                <a:latin typeface="Segoe UI Light"/>
              </a:rPr>
              <a:t>Playwright</a:t>
            </a:r>
            <a:endParaRPr lang="fr-FR" b="1" dirty="0">
              <a:solidFill>
                <a:srgbClr val="AAD23B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203AEC74-3337-41FF-811E-15C4E7D8E3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E6F487F4-15D2-42B1-2383-BE64648CE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3470987" cy="347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0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E028F3-B265-4C26-AE39-985114110839}"/>
              </a:ext>
            </a:extLst>
          </p:cNvPr>
          <p:cNvSpPr/>
          <p:nvPr/>
        </p:nvSpPr>
        <p:spPr>
          <a:xfrm>
            <a:off x="0" y="0"/>
            <a:ext cx="3470989" cy="6858000"/>
          </a:xfrm>
          <a:prstGeom prst="rect">
            <a:avLst/>
          </a:prstGeom>
          <a:solidFill>
            <a:srgbClr val="3B5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2B41308F-BC0B-48D7-87BB-2B0B96E1A818}"/>
              </a:ext>
            </a:extLst>
          </p:cNvPr>
          <p:cNvSpPr txBox="1">
            <a:spLocks/>
          </p:cNvSpPr>
          <p:nvPr/>
        </p:nvSpPr>
        <p:spPr>
          <a:xfrm>
            <a:off x="354186" y="1240233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PUBLIC CIBLÉ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3C4C42B5-78D4-43BA-9AEF-E786F5CC3DD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PUBLIC CIBLÉ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5727DDCA-0BE5-4E22-A2E0-0367F5B3627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pic>
        <p:nvPicPr>
          <p:cNvPr id="23" name="Graphique 22" descr="Public cible">
            <a:extLst>
              <a:ext uri="{FF2B5EF4-FFF2-40B4-BE49-F238E27FC236}">
                <a16:creationId xmlns:a16="http://schemas.microsoft.com/office/drawing/2014/main" id="{A9AE94FD-E506-45B8-B4C6-CB9E19A4396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408373"/>
            <a:ext cx="627927" cy="627927"/>
          </a:xfrm>
          <a:prstGeom prst="rect">
            <a:avLst/>
          </a:prstGeom>
        </p:spPr>
      </p:pic>
      <p:sp>
        <p:nvSpPr>
          <p:cNvPr id="24" name="Titre 1">
            <a:extLst>
              <a:ext uri="{FF2B5EF4-FFF2-40B4-BE49-F238E27FC236}">
                <a16:creationId xmlns:a16="http://schemas.microsoft.com/office/drawing/2014/main" id="{5B02F65B-B5B1-49C5-B35A-850BB7D2F46C}"/>
              </a:ext>
            </a:extLst>
          </p:cNvPr>
          <p:cNvSpPr txBox="1">
            <a:spLocks/>
          </p:cNvSpPr>
          <p:nvPr/>
        </p:nvSpPr>
        <p:spPr>
          <a:xfrm>
            <a:off x="3725334" y="2651894"/>
            <a:ext cx="8112480" cy="9110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141E26"/>
                </a:solidFill>
              </a:rPr>
              <a:t>Testeur ayant des notions de programmation.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141E26"/>
                </a:solidFill>
              </a:rPr>
              <a:t>Développeur souhaitant découvrir le test automatisé.</a:t>
            </a:r>
          </a:p>
        </p:txBody>
      </p:sp>
    </p:spTree>
    <p:extLst>
      <p:ext uri="{BB962C8B-B14F-4D97-AF65-F5344CB8AC3E}">
        <p14:creationId xmlns:p14="http://schemas.microsoft.com/office/powerpoint/2010/main" val="230122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E112-6AAC-C1B1-6AE1-CFFBC2D4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A05A63-79E4-A578-FBB7-506F0DEA107B}"/>
              </a:ext>
            </a:extLst>
          </p:cNvPr>
          <p:cNvSpPr/>
          <p:nvPr/>
        </p:nvSpPr>
        <p:spPr>
          <a:xfrm>
            <a:off x="0" y="0"/>
            <a:ext cx="3470989" cy="6858000"/>
          </a:xfrm>
          <a:prstGeom prst="rect">
            <a:avLst/>
          </a:prstGeom>
          <a:solidFill>
            <a:srgbClr val="3B5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Graphique 9" descr="Objectif">
            <a:extLst>
              <a:ext uri="{FF2B5EF4-FFF2-40B4-BE49-F238E27FC236}">
                <a16:creationId xmlns:a16="http://schemas.microsoft.com/office/drawing/2014/main" id="{267F7C54-BD12-91B6-BF2B-2E5E8496D77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428630"/>
            <a:ext cx="587415" cy="587415"/>
          </a:xfrm>
          <a:prstGeom prst="rect">
            <a:avLst/>
          </a:prstGeom>
        </p:spPr>
      </p:pic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CA24DBF8-D67F-10B4-461A-9575B48C3258}"/>
              </a:ext>
            </a:extLst>
          </p:cNvPr>
          <p:cNvSpPr txBox="1">
            <a:spLocks/>
          </p:cNvSpPr>
          <p:nvPr/>
        </p:nvSpPr>
        <p:spPr>
          <a:xfrm>
            <a:off x="354186" y="1240233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OBJECTIFS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8D22F8C-81FD-E104-0E86-1D439AB89B75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OBJECTIFS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CAB451C2-DFAA-82D7-DE11-947629F54FF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22FFDAB-2822-2F54-56FB-06B1D78447B4}"/>
              </a:ext>
            </a:extLst>
          </p:cNvPr>
          <p:cNvSpPr/>
          <p:nvPr/>
        </p:nvSpPr>
        <p:spPr>
          <a:xfrm>
            <a:off x="3825172" y="1242326"/>
            <a:ext cx="3566227" cy="2451862"/>
          </a:xfrm>
          <a:prstGeom prst="rect">
            <a:avLst/>
          </a:prstGeom>
          <a:solidFill>
            <a:srgbClr val="14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Organigramme : Entrée manuelle 27">
            <a:extLst>
              <a:ext uri="{FF2B5EF4-FFF2-40B4-BE49-F238E27FC236}">
                <a16:creationId xmlns:a16="http://schemas.microsoft.com/office/drawing/2014/main" id="{8E3E748D-A08B-08D9-9C5A-665DB2FC3A24}"/>
              </a:ext>
            </a:extLst>
          </p:cNvPr>
          <p:cNvSpPr/>
          <p:nvPr/>
        </p:nvSpPr>
        <p:spPr>
          <a:xfrm>
            <a:off x="3825173" y="2588789"/>
            <a:ext cx="3566226" cy="110539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75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75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575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5753"/>
                </a:lnTo>
                <a:close/>
              </a:path>
            </a:pathLst>
          </a:custGeom>
          <a:solidFill>
            <a:srgbClr val="AAD2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5E13D8-5D46-05E6-C52D-FDA4F5A33ED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981450" y="1510853"/>
            <a:ext cx="3219450" cy="590931"/>
          </a:xfrm>
          <a:noFill/>
          <a:ln>
            <a:noFill/>
          </a:ln>
        </p:spPr>
        <p:txBody>
          <a:bodyPr wrap="square" anchor="t" anchorCtr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</a:rPr>
              <a:t>Découvrir le test automatisé avec </a:t>
            </a:r>
            <a:r>
              <a:rPr lang="fr-FR" sz="1800" dirty="0" err="1">
                <a:solidFill>
                  <a:schemeClr val="bg1"/>
                </a:solidFill>
              </a:rPr>
              <a:t>Playwright</a:t>
            </a:r>
            <a:endParaRPr lang="fr-FR" sz="18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EEF6A6-BFE9-BD7A-33B7-865ACB8A75CA}"/>
              </a:ext>
            </a:extLst>
          </p:cNvPr>
          <p:cNvSpPr/>
          <p:nvPr/>
        </p:nvSpPr>
        <p:spPr>
          <a:xfrm>
            <a:off x="8271587" y="1242326"/>
            <a:ext cx="3566227" cy="2451862"/>
          </a:xfrm>
          <a:prstGeom prst="rect">
            <a:avLst/>
          </a:prstGeom>
          <a:solidFill>
            <a:srgbClr val="14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Organigramme : Entrée manuelle 27">
            <a:extLst>
              <a:ext uri="{FF2B5EF4-FFF2-40B4-BE49-F238E27FC236}">
                <a16:creationId xmlns:a16="http://schemas.microsoft.com/office/drawing/2014/main" id="{9DCA76BC-CB9B-FF74-BCFD-DCC028A82FD0}"/>
              </a:ext>
            </a:extLst>
          </p:cNvPr>
          <p:cNvSpPr/>
          <p:nvPr/>
        </p:nvSpPr>
        <p:spPr>
          <a:xfrm>
            <a:off x="8271587" y="2588789"/>
            <a:ext cx="3566226" cy="110539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75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75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575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5753"/>
                </a:lnTo>
                <a:close/>
              </a:path>
            </a:pathLst>
          </a:custGeom>
          <a:solidFill>
            <a:srgbClr val="3B518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0BBD39A-571C-0B26-9C00-56967BDA842B}"/>
              </a:ext>
            </a:extLst>
          </p:cNvPr>
          <p:cNvSpPr txBox="1">
            <a:spLocks/>
          </p:cNvSpPr>
          <p:nvPr/>
        </p:nvSpPr>
        <p:spPr>
          <a:xfrm>
            <a:off x="8429626" y="1501945"/>
            <a:ext cx="3171824" cy="8402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chemeClr val="bg1"/>
                </a:solidFill>
              </a:rPr>
              <a:t>Réaliser des tests d’interface graphique et d’API avec </a:t>
            </a:r>
            <a:r>
              <a:rPr lang="fr-FR" sz="1800" dirty="0" err="1">
                <a:solidFill>
                  <a:schemeClr val="bg1"/>
                </a:solidFill>
              </a:rPr>
              <a:t>Playwright</a:t>
            </a:r>
            <a:endParaRPr lang="fr-FR" sz="1800" b="1" dirty="0">
              <a:solidFill>
                <a:schemeClr val="bg1"/>
              </a:solidFill>
            </a:endParaRPr>
          </a:p>
        </p:txBody>
      </p:sp>
      <p:sp>
        <p:nvSpPr>
          <p:cNvPr id="32" name="Organigramme : Entrée manuelle 27">
            <a:extLst>
              <a:ext uri="{FF2B5EF4-FFF2-40B4-BE49-F238E27FC236}">
                <a16:creationId xmlns:a16="http://schemas.microsoft.com/office/drawing/2014/main" id="{E38860AC-1628-5A2A-E405-22BE7D3DB297}"/>
              </a:ext>
            </a:extLst>
          </p:cNvPr>
          <p:cNvSpPr/>
          <p:nvPr/>
        </p:nvSpPr>
        <p:spPr>
          <a:xfrm flipH="1">
            <a:off x="3825171" y="2588789"/>
            <a:ext cx="3566226" cy="110539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75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75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575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5753"/>
                </a:lnTo>
                <a:close/>
              </a:path>
            </a:pathLst>
          </a:custGeom>
          <a:solidFill>
            <a:srgbClr val="AAD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rganigramme : Entrée manuelle 27">
            <a:extLst>
              <a:ext uri="{FF2B5EF4-FFF2-40B4-BE49-F238E27FC236}">
                <a16:creationId xmlns:a16="http://schemas.microsoft.com/office/drawing/2014/main" id="{9514A6D7-F5C5-9AE8-3656-47BE58FBC791}"/>
              </a:ext>
            </a:extLst>
          </p:cNvPr>
          <p:cNvSpPr/>
          <p:nvPr/>
        </p:nvSpPr>
        <p:spPr>
          <a:xfrm flipH="1">
            <a:off x="8271587" y="2588788"/>
            <a:ext cx="3566226" cy="110539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75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75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575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5753"/>
                </a:lnTo>
                <a:close/>
              </a:path>
            </a:pathLst>
          </a:custGeom>
          <a:solidFill>
            <a:srgbClr val="3B5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004521-84D9-5F84-32D6-A110EE260726}"/>
              </a:ext>
            </a:extLst>
          </p:cNvPr>
          <p:cNvSpPr/>
          <p:nvPr/>
        </p:nvSpPr>
        <p:spPr>
          <a:xfrm>
            <a:off x="3825172" y="3962278"/>
            <a:ext cx="3566227" cy="2451862"/>
          </a:xfrm>
          <a:prstGeom prst="rect">
            <a:avLst/>
          </a:prstGeom>
          <a:solidFill>
            <a:srgbClr val="14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Organigramme : Entrée manuelle 27">
            <a:extLst>
              <a:ext uri="{FF2B5EF4-FFF2-40B4-BE49-F238E27FC236}">
                <a16:creationId xmlns:a16="http://schemas.microsoft.com/office/drawing/2014/main" id="{E4F663EC-76CE-043F-28C5-96C66186C47C}"/>
              </a:ext>
            </a:extLst>
          </p:cNvPr>
          <p:cNvSpPr/>
          <p:nvPr/>
        </p:nvSpPr>
        <p:spPr>
          <a:xfrm>
            <a:off x="3825173" y="5311427"/>
            <a:ext cx="3566226" cy="110271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75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75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575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5753"/>
                </a:lnTo>
                <a:close/>
              </a:path>
            </a:pathLst>
          </a:custGeom>
          <a:solidFill>
            <a:srgbClr val="06516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Organigramme : Entrée manuelle 27">
            <a:extLst>
              <a:ext uri="{FF2B5EF4-FFF2-40B4-BE49-F238E27FC236}">
                <a16:creationId xmlns:a16="http://schemas.microsoft.com/office/drawing/2014/main" id="{672E9C06-2BA3-FD67-CBCA-83FD97F3A050}"/>
              </a:ext>
            </a:extLst>
          </p:cNvPr>
          <p:cNvSpPr/>
          <p:nvPr/>
        </p:nvSpPr>
        <p:spPr>
          <a:xfrm flipH="1">
            <a:off x="3825171" y="5311427"/>
            <a:ext cx="3566226" cy="110271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75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575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575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5753"/>
                </a:lnTo>
                <a:close/>
              </a:path>
            </a:pathLst>
          </a:custGeom>
          <a:solidFill>
            <a:srgbClr val="065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B080874-EAF9-2789-6061-A23448138A49}"/>
              </a:ext>
            </a:extLst>
          </p:cNvPr>
          <p:cNvSpPr txBox="1">
            <a:spLocks/>
          </p:cNvSpPr>
          <p:nvPr/>
        </p:nvSpPr>
        <p:spPr>
          <a:xfrm>
            <a:off x="3981450" y="4200420"/>
            <a:ext cx="3171824" cy="5909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chemeClr val="bg1"/>
                </a:solidFill>
              </a:rPr>
              <a:t>Correctement organiser ces tests dans </a:t>
            </a:r>
            <a:r>
              <a:rPr lang="fr-FR" sz="1800" dirty="0" err="1">
                <a:solidFill>
                  <a:schemeClr val="bg1"/>
                </a:solidFill>
              </a:rPr>
              <a:t>Playwright</a:t>
            </a:r>
            <a:endParaRPr lang="fr-F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7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E028F3-B265-4C26-AE39-985114110839}"/>
              </a:ext>
            </a:extLst>
          </p:cNvPr>
          <p:cNvSpPr/>
          <p:nvPr/>
        </p:nvSpPr>
        <p:spPr>
          <a:xfrm>
            <a:off x="0" y="0"/>
            <a:ext cx="3470989" cy="6858000"/>
          </a:xfrm>
          <a:prstGeom prst="rect">
            <a:avLst/>
          </a:prstGeom>
          <a:solidFill>
            <a:srgbClr val="3B5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2B41308F-BC0B-48D7-87BB-2B0B96E1A818}"/>
              </a:ext>
            </a:extLst>
          </p:cNvPr>
          <p:cNvSpPr txBox="1">
            <a:spLocks/>
          </p:cNvSpPr>
          <p:nvPr/>
        </p:nvSpPr>
        <p:spPr>
          <a:xfrm>
            <a:off x="354186" y="1240233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SOMMAIRE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3C4C42B5-78D4-43BA-9AEF-E786F5CC3DDE}"/>
              </a:ext>
            </a:extLst>
          </p:cNvPr>
          <p:cNvSpPr txBox="1">
            <a:spLocks/>
          </p:cNvSpPr>
          <p:nvPr/>
        </p:nvSpPr>
        <p:spPr>
          <a:xfrm>
            <a:off x="3825174" y="616202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SOMMAIRE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5727DDCA-0BE5-4E22-A2E0-0367F5B3627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pic>
        <p:nvPicPr>
          <p:cNvPr id="23" name="Graphique 22" descr="Diagramme de Gantt avec un remplissage uni">
            <a:extLst>
              <a:ext uri="{FF2B5EF4-FFF2-40B4-BE49-F238E27FC236}">
                <a16:creationId xmlns:a16="http://schemas.microsoft.com/office/drawing/2014/main" id="{B99F2089-E1F9-457E-ACD0-AD5C1BF1E4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4185" y="428629"/>
            <a:ext cx="587415" cy="587415"/>
          </a:xfrm>
          <a:prstGeom prst="rect">
            <a:avLst/>
          </a:prstGeom>
        </p:spPr>
      </p:pic>
      <p:sp>
        <p:nvSpPr>
          <p:cNvPr id="29" name="Titre 1">
            <a:extLst>
              <a:ext uri="{FF2B5EF4-FFF2-40B4-BE49-F238E27FC236}">
                <a16:creationId xmlns:a16="http://schemas.microsoft.com/office/drawing/2014/main" id="{4C95C01F-C523-57CA-1128-B44BF507428A}"/>
              </a:ext>
            </a:extLst>
          </p:cNvPr>
          <p:cNvSpPr txBox="1">
            <a:spLocks/>
          </p:cNvSpPr>
          <p:nvPr/>
        </p:nvSpPr>
        <p:spPr>
          <a:xfrm>
            <a:off x="4218152" y="3731149"/>
            <a:ext cx="6253470" cy="3416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rgbClr val="141E26"/>
                </a:solidFill>
              </a:rPr>
              <a:t>Fonctionnalités avancées &amp; Intégrations</a:t>
            </a:r>
          </a:p>
        </p:txBody>
      </p:sp>
      <p:sp>
        <p:nvSpPr>
          <p:cNvPr id="34" name="Titre 1">
            <a:extLst>
              <a:ext uri="{FF2B5EF4-FFF2-40B4-BE49-F238E27FC236}">
                <a16:creationId xmlns:a16="http://schemas.microsoft.com/office/drawing/2014/main" id="{64F364B1-9538-42AA-9877-5801DD179BE5}"/>
              </a:ext>
            </a:extLst>
          </p:cNvPr>
          <p:cNvSpPr txBox="1">
            <a:spLocks/>
          </p:cNvSpPr>
          <p:nvPr/>
        </p:nvSpPr>
        <p:spPr>
          <a:xfrm>
            <a:off x="4218152" y="1426712"/>
            <a:ext cx="6606396" cy="3416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sz="1800" dirty="0"/>
              <a:t>Fondamentaux &amp; Mise en route</a:t>
            </a:r>
            <a:endParaRPr lang="fr-FR" sz="1800" b="1" dirty="0">
              <a:solidFill>
                <a:srgbClr val="141E26"/>
              </a:solidFill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FB81FF90-928C-1D46-C58D-1CDBCE0ED951}"/>
              </a:ext>
            </a:extLst>
          </p:cNvPr>
          <p:cNvGrpSpPr/>
          <p:nvPr/>
        </p:nvGrpSpPr>
        <p:grpSpPr>
          <a:xfrm>
            <a:off x="3754616" y="1376476"/>
            <a:ext cx="352619" cy="341632"/>
            <a:chOff x="3816714" y="1112462"/>
            <a:chExt cx="542922" cy="526006"/>
          </a:xfrm>
        </p:grpSpPr>
        <p:sp>
          <p:nvSpPr>
            <p:cNvPr id="40" name="Organigramme : Entrée manuelle 27">
              <a:extLst>
                <a:ext uri="{FF2B5EF4-FFF2-40B4-BE49-F238E27FC236}">
                  <a16:creationId xmlns:a16="http://schemas.microsoft.com/office/drawing/2014/main" id="{00597EA6-2EB3-D8FD-8447-017C753071E7}"/>
                </a:ext>
              </a:extLst>
            </p:cNvPr>
            <p:cNvSpPr/>
            <p:nvPr/>
          </p:nvSpPr>
          <p:spPr>
            <a:xfrm rot="5400000">
              <a:off x="3825173" y="1104005"/>
              <a:ext cx="526006" cy="542920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AAD23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Organigramme : Entrée manuelle 27">
              <a:extLst>
                <a:ext uri="{FF2B5EF4-FFF2-40B4-BE49-F238E27FC236}">
                  <a16:creationId xmlns:a16="http://schemas.microsoft.com/office/drawing/2014/main" id="{4F75AA7B-21CA-8A29-22ED-449649E51CD1}"/>
                </a:ext>
              </a:extLst>
            </p:cNvPr>
            <p:cNvSpPr/>
            <p:nvPr/>
          </p:nvSpPr>
          <p:spPr>
            <a:xfrm rot="5400000" flipH="1">
              <a:off x="3825171" y="1104005"/>
              <a:ext cx="526006" cy="542920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AAD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6C93F32E-FA89-9D29-29FA-589E7BD64ACD}"/>
              </a:ext>
            </a:extLst>
          </p:cNvPr>
          <p:cNvGrpSpPr/>
          <p:nvPr/>
        </p:nvGrpSpPr>
        <p:grpSpPr>
          <a:xfrm rot="5400000">
            <a:off x="3760108" y="2919928"/>
            <a:ext cx="341634" cy="352619"/>
            <a:chOff x="8271587" y="2588788"/>
            <a:chExt cx="3566226" cy="1105399"/>
          </a:xfrm>
        </p:grpSpPr>
        <p:sp>
          <p:nvSpPr>
            <p:cNvPr id="46" name="Organigramme : Entrée manuelle 27">
              <a:extLst>
                <a:ext uri="{FF2B5EF4-FFF2-40B4-BE49-F238E27FC236}">
                  <a16:creationId xmlns:a16="http://schemas.microsoft.com/office/drawing/2014/main" id="{56072167-4244-43EE-3432-B94E28DE4FC4}"/>
                </a:ext>
              </a:extLst>
            </p:cNvPr>
            <p:cNvSpPr/>
            <p:nvPr/>
          </p:nvSpPr>
          <p:spPr>
            <a:xfrm>
              <a:off x="8271587" y="2588789"/>
              <a:ext cx="3566226" cy="1105398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3B518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Organigramme : Entrée manuelle 27">
              <a:extLst>
                <a:ext uri="{FF2B5EF4-FFF2-40B4-BE49-F238E27FC236}">
                  <a16:creationId xmlns:a16="http://schemas.microsoft.com/office/drawing/2014/main" id="{9E4D4547-D138-0233-F68D-57DF4823A326}"/>
                </a:ext>
              </a:extLst>
            </p:cNvPr>
            <p:cNvSpPr/>
            <p:nvPr/>
          </p:nvSpPr>
          <p:spPr>
            <a:xfrm flipH="1">
              <a:off x="8271587" y="2588788"/>
              <a:ext cx="3566226" cy="1105398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3B5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8" name="Titre 1">
            <a:extLst>
              <a:ext uri="{FF2B5EF4-FFF2-40B4-BE49-F238E27FC236}">
                <a16:creationId xmlns:a16="http://schemas.microsoft.com/office/drawing/2014/main" id="{23DEC30F-4ECE-4B1C-A27C-4D0FD4A4BFFF}"/>
              </a:ext>
            </a:extLst>
          </p:cNvPr>
          <p:cNvSpPr txBox="1">
            <a:spLocks/>
          </p:cNvSpPr>
          <p:nvPr/>
        </p:nvSpPr>
        <p:spPr>
          <a:xfrm>
            <a:off x="4280245" y="2945597"/>
            <a:ext cx="6606395" cy="3416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rgbClr val="141E26"/>
                </a:solidFill>
              </a:rPr>
              <a:t>Architecture &amp; Réutilisabilité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6779288-5F89-E37E-149E-F134D25661DC}"/>
              </a:ext>
            </a:extLst>
          </p:cNvPr>
          <p:cNvGrpSpPr/>
          <p:nvPr/>
        </p:nvGrpSpPr>
        <p:grpSpPr>
          <a:xfrm>
            <a:off x="3754616" y="2150948"/>
            <a:ext cx="352619" cy="341632"/>
            <a:chOff x="3816713" y="2710839"/>
            <a:chExt cx="542923" cy="526007"/>
          </a:xfrm>
        </p:grpSpPr>
        <p:sp>
          <p:nvSpPr>
            <p:cNvPr id="21" name="Organigramme : Entrée manuelle 27">
              <a:extLst>
                <a:ext uri="{FF2B5EF4-FFF2-40B4-BE49-F238E27FC236}">
                  <a16:creationId xmlns:a16="http://schemas.microsoft.com/office/drawing/2014/main" id="{C562B1D8-1766-FFF5-0B19-B7A7FC975E39}"/>
                </a:ext>
              </a:extLst>
            </p:cNvPr>
            <p:cNvSpPr/>
            <p:nvPr/>
          </p:nvSpPr>
          <p:spPr>
            <a:xfrm rot="5400000">
              <a:off x="3825172" y="2702382"/>
              <a:ext cx="526007" cy="542921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sp>
          <p:nvSpPr>
            <p:cNvPr id="22" name="Organigramme : Entrée manuelle 27">
              <a:extLst>
                <a:ext uri="{FF2B5EF4-FFF2-40B4-BE49-F238E27FC236}">
                  <a16:creationId xmlns:a16="http://schemas.microsoft.com/office/drawing/2014/main" id="{83A7DFC8-D4B8-A66C-B320-A11D6D053690}"/>
                </a:ext>
              </a:extLst>
            </p:cNvPr>
            <p:cNvSpPr/>
            <p:nvPr/>
          </p:nvSpPr>
          <p:spPr>
            <a:xfrm rot="5400000" flipH="1">
              <a:off x="3825170" y="2702382"/>
              <a:ext cx="526007" cy="542921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</p:grpSp>
      <p:sp>
        <p:nvSpPr>
          <p:cNvPr id="25" name="Titre 1">
            <a:extLst>
              <a:ext uri="{FF2B5EF4-FFF2-40B4-BE49-F238E27FC236}">
                <a16:creationId xmlns:a16="http://schemas.microsoft.com/office/drawing/2014/main" id="{52E372FF-271F-4C13-6E0B-E029905387F4}"/>
              </a:ext>
            </a:extLst>
          </p:cNvPr>
          <p:cNvSpPr txBox="1">
            <a:spLocks/>
          </p:cNvSpPr>
          <p:nvPr/>
        </p:nvSpPr>
        <p:spPr>
          <a:xfrm>
            <a:off x="4218152" y="2160045"/>
            <a:ext cx="6606395" cy="3416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rgbClr val="141E26"/>
                </a:solidFill>
              </a:rPr>
              <a:t>Écriture des tests </a:t>
            </a:r>
            <a:r>
              <a:rPr lang="fr-FR" sz="1800" dirty="0" err="1">
                <a:solidFill>
                  <a:srgbClr val="141E26"/>
                </a:solidFill>
              </a:rPr>
              <a:t>Playwright</a:t>
            </a:r>
            <a:endParaRPr lang="fr-FR" sz="1800" dirty="0">
              <a:solidFill>
                <a:srgbClr val="141E26"/>
              </a:solidFill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8055E67-FB40-B202-61AA-90C50750EF49}"/>
              </a:ext>
            </a:extLst>
          </p:cNvPr>
          <p:cNvGrpSpPr/>
          <p:nvPr/>
        </p:nvGrpSpPr>
        <p:grpSpPr>
          <a:xfrm rot="5400000">
            <a:off x="3760107" y="3694400"/>
            <a:ext cx="341632" cy="352617"/>
            <a:chOff x="8271587" y="5311425"/>
            <a:chExt cx="3566226" cy="1102714"/>
          </a:xfrm>
        </p:grpSpPr>
        <p:sp>
          <p:nvSpPr>
            <p:cNvPr id="3" name="Organigramme : Entrée manuelle 27">
              <a:extLst>
                <a:ext uri="{FF2B5EF4-FFF2-40B4-BE49-F238E27FC236}">
                  <a16:creationId xmlns:a16="http://schemas.microsoft.com/office/drawing/2014/main" id="{B4A146DE-3DD8-DB17-6AA7-D4E1AC17EA49}"/>
                </a:ext>
              </a:extLst>
            </p:cNvPr>
            <p:cNvSpPr/>
            <p:nvPr/>
          </p:nvSpPr>
          <p:spPr>
            <a:xfrm>
              <a:off x="8271587" y="5311426"/>
              <a:ext cx="3566226" cy="110271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016B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Organigramme : Entrée manuelle 27">
              <a:extLst>
                <a:ext uri="{FF2B5EF4-FFF2-40B4-BE49-F238E27FC236}">
                  <a16:creationId xmlns:a16="http://schemas.microsoft.com/office/drawing/2014/main" id="{272DFCA7-4ED8-157F-2732-EF81CC000962}"/>
                </a:ext>
              </a:extLst>
            </p:cNvPr>
            <p:cNvSpPr/>
            <p:nvPr/>
          </p:nvSpPr>
          <p:spPr>
            <a:xfrm flipH="1">
              <a:off x="8271587" y="5311425"/>
              <a:ext cx="3566226" cy="110271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5753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575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575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5753"/>
                  </a:lnTo>
                  <a:close/>
                </a:path>
              </a:pathLst>
            </a:custGeom>
            <a:solidFill>
              <a:srgbClr val="016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89566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E028F3-B265-4C26-AE39-985114110839}"/>
              </a:ext>
            </a:extLst>
          </p:cNvPr>
          <p:cNvSpPr/>
          <p:nvPr/>
        </p:nvSpPr>
        <p:spPr>
          <a:xfrm>
            <a:off x="0" y="0"/>
            <a:ext cx="3470989" cy="6858000"/>
          </a:xfrm>
          <a:prstGeom prst="rect">
            <a:avLst/>
          </a:prstGeom>
          <a:solidFill>
            <a:srgbClr val="3B5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2B41308F-BC0B-48D7-87BB-2B0B96E1A818}"/>
              </a:ext>
            </a:extLst>
          </p:cNvPr>
          <p:cNvSpPr txBox="1">
            <a:spLocks/>
          </p:cNvSpPr>
          <p:nvPr/>
        </p:nvSpPr>
        <p:spPr>
          <a:xfrm>
            <a:off x="354186" y="1240233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Iconographie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3C4C42B5-78D4-43BA-9AEF-E786F5CC3DD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/>
                <a:cs typeface="Segoe UI"/>
              </a:rPr>
              <a:t>Iconographie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5727DDCA-0BE5-4E22-A2E0-0367F5B3627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pic>
        <p:nvPicPr>
          <p:cNvPr id="23" name="Graphique 22" descr="Ampoule contour">
            <a:extLst>
              <a:ext uri="{FF2B5EF4-FFF2-40B4-BE49-F238E27FC236}">
                <a16:creationId xmlns:a16="http://schemas.microsoft.com/office/drawing/2014/main" id="{B99F2089-E1F9-457E-ACD0-AD5C1BF1E4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4185" y="428629"/>
            <a:ext cx="587415" cy="587415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37A3E51-2C44-E56E-9DF7-6747AD6D066A}"/>
              </a:ext>
            </a:extLst>
          </p:cNvPr>
          <p:cNvSpPr txBox="1">
            <a:spLocks/>
          </p:cNvSpPr>
          <p:nvPr/>
        </p:nvSpPr>
        <p:spPr>
          <a:xfrm>
            <a:off x="3979324" y="1256020"/>
            <a:ext cx="8012641" cy="4386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>
                <a:latin typeface="Segoe UI"/>
                <a:cs typeface="Segoe UI"/>
              </a:rPr>
              <a:t>Ce cours s’accompagne d’une iconographie afin de mieux se repérer :</a:t>
            </a:r>
          </a:p>
          <a:p>
            <a:pPr lvl="1"/>
            <a:endParaRPr lang="fr-FR"/>
          </a:p>
        </p:txBody>
      </p:sp>
      <p:pic>
        <p:nvPicPr>
          <p:cNvPr id="8" name="Graphique 7" descr="Danger">
            <a:extLst>
              <a:ext uri="{FF2B5EF4-FFF2-40B4-BE49-F238E27FC236}">
                <a16:creationId xmlns:a16="http://schemas.microsoft.com/office/drawing/2014/main" id="{D0FD777A-1AF3-3B3B-19CE-17F117F8B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8737" y="1902144"/>
            <a:ext cx="953117" cy="9531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D9ED2CB-8CE6-3630-E110-8B3322E8AE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273" y="3911325"/>
            <a:ext cx="980699" cy="95311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A7E4AE6-F7DD-4E52-D081-C71DCE79BE89}"/>
              </a:ext>
            </a:extLst>
          </p:cNvPr>
          <p:cNvSpPr txBox="1"/>
          <p:nvPr/>
        </p:nvSpPr>
        <p:spPr>
          <a:xfrm>
            <a:off x="5024214" y="2412165"/>
            <a:ext cx="2778826" cy="9144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r>
              <a:rPr lang="fr-FR" sz="2400"/>
              <a:t>Sécurité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5E51CF-7ED2-4C1E-5B6F-07BB5D4F6F19}"/>
              </a:ext>
            </a:extLst>
          </p:cNvPr>
          <p:cNvSpPr txBox="1"/>
          <p:nvPr/>
        </p:nvSpPr>
        <p:spPr>
          <a:xfrm>
            <a:off x="4628480" y="4403256"/>
            <a:ext cx="2778826" cy="9144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r>
              <a:rPr lang="fr-FR" sz="2400"/>
              <a:t>Eco-conception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7FF0C49-2A73-AC9D-ECCD-F180C6CDD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90702" y="2017688"/>
            <a:ext cx="1511370" cy="78895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1E299C8-1521-2D17-EEF6-0012D896DD5B}"/>
              </a:ext>
            </a:extLst>
          </p:cNvPr>
          <p:cNvSpPr txBox="1"/>
          <p:nvPr/>
        </p:nvSpPr>
        <p:spPr>
          <a:xfrm>
            <a:off x="8625988" y="2412165"/>
            <a:ext cx="2778826" cy="9144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r>
              <a:rPr lang="fr-FR" sz="2400"/>
              <a:t>Accessibilité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8CC44CB-CCA9-0807-2438-B09A88C26E2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6037" y="3946844"/>
            <a:ext cx="980699" cy="98069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570F350-9D5B-BF43-8DFD-43E5BBA4EEA8}"/>
              </a:ext>
            </a:extLst>
          </p:cNvPr>
          <p:cNvSpPr txBox="1"/>
          <p:nvPr/>
        </p:nvSpPr>
        <p:spPr>
          <a:xfrm>
            <a:off x="8625988" y="4436406"/>
            <a:ext cx="2778826" cy="9144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r>
              <a:rPr lang="fr-FR" sz="2400"/>
              <a:t>Clean Code</a:t>
            </a:r>
          </a:p>
        </p:txBody>
      </p:sp>
    </p:spTree>
    <p:extLst>
      <p:ext uri="{BB962C8B-B14F-4D97-AF65-F5344CB8AC3E}">
        <p14:creationId xmlns:p14="http://schemas.microsoft.com/office/powerpoint/2010/main" val="387142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/>
      <p:bldP spid="11" grpId="0"/>
      <p:bldP spid="15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E028F3-B265-4C26-AE39-985114110839}"/>
              </a:ext>
            </a:extLst>
          </p:cNvPr>
          <p:cNvSpPr/>
          <p:nvPr/>
        </p:nvSpPr>
        <p:spPr>
          <a:xfrm>
            <a:off x="0" y="0"/>
            <a:ext cx="3470989" cy="6858000"/>
          </a:xfrm>
          <a:prstGeom prst="rect">
            <a:avLst/>
          </a:prstGeom>
          <a:solidFill>
            <a:srgbClr val="3B5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2B41308F-BC0B-48D7-87BB-2B0B96E1A818}"/>
              </a:ext>
            </a:extLst>
          </p:cNvPr>
          <p:cNvSpPr txBox="1">
            <a:spLocks/>
          </p:cNvSpPr>
          <p:nvPr/>
        </p:nvSpPr>
        <p:spPr>
          <a:xfrm>
            <a:off x="354186" y="1240233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Avertissement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3C4C42B5-78D4-43BA-9AEF-E786F5CC3DD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/>
                <a:cs typeface="Segoe UI"/>
              </a:rPr>
              <a:t>Avertissement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5727DDCA-0BE5-4E22-A2E0-0367F5B3627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pic>
        <p:nvPicPr>
          <p:cNvPr id="23" name="Graphique 22" descr="Avertissement avec un remplissage uni">
            <a:extLst>
              <a:ext uri="{FF2B5EF4-FFF2-40B4-BE49-F238E27FC236}">
                <a16:creationId xmlns:a16="http://schemas.microsoft.com/office/drawing/2014/main" id="{A9AE94FD-E506-45B8-B4C6-CB9E19A43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4185" y="408373"/>
            <a:ext cx="627927" cy="627927"/>
          </a:xfrm>
          <a:prstGeom prst="rect">
            <a:avLst/>
          </a:prstGeom>
        </p:spPr>
      </p:pic>
      <p:sp>
        <p:nvSpPr>
          <p:cNvPr id="24" name="Titre 1">
            <a:extLst>
              <a:ext uri="{FF2B5EF4-FFF2-40B4-BE49-F238E27FC236}">
                <a16:creationId xmlns:a16="http://schemas.microsoft.com/office/drawing/2014/main" id="{5B02F65B-B5B1-49C5-B35A-850BB7D2F46C}"/>
              </a:ext>
            </a:extLst>
          </p:cNvPr>
          <p:cNvSpPr txBox="1">
            <a:spLocks/>
          </p:cNvSpPr>
          <p:nvPr/>
        </p:nvSpPr>
        <p:spPr>
          <a:xfrm>
            <a:off x="4201599" y="2556568"/>
            <a:ext cx="7259789" cy="13111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algn="just"/>
            <a:r>
              <a:rPr lang="fr-FR" sz="3200"/>
              <a:t>« </a:t>
            </a:r>
            <a:r>
              <a:rPr lang="fr-FR" sz="2400" i="1"/>
              <a:t>Toute reproduction, édition, ou utilisation de ce document, hors du cadre de l’ENI, est punie de 3 ans d'emprisonnement et de 300 000 euros d'amende. </a:t>
            </a:r>
            <a:r>
              <a:rPr lang="fr-FR" sz="3200"/>
              <a:t>»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E740139-AB89-8B6A-5C49-8C3DC716D5C8}"/>
              </a:ext>
            </a:extLst>
          </p:cNvPr>
          <p:cNvSpPr txBox="1"/>
          <p:nvPr/>
        </p:nvSpPr>
        <p:spPr>
          <a:xfrm>
            <a:off x="4201598" y="3757734"/>
            <a:ext cx="7259789" cy="434109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r>
              <a:rPr lang="fr-FR" sz="1600" i="1">
                <a:solidFill>
                  <a:srgbClr val="016B9F"/>
                </a:solidFill>
              </a:rPr>
              <a:t>Référence : Article L335-2 du Code de la propriété intellectuelle</a:t>
            </a:r>
          </a:p>
        </p:txBody>
      </p:sp>
    </p:spTree>
    <p:extLst>
      <p:ext uri="{BB962C8B-B14F-4D97-AF65-F5344CB8AC3E}">
        <p14:creationId xmlns:p14="http://schemas.microsoft.com/office/powerpoint/2010/main" val="32548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2879-0D35-5F54-D1A7-266F7405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878760-2E4D-11A3-722D-A5589697D1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87EAF79-2793-D714-DF14-577053BB19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7780"/>
          <a:stretch/>
        </p:blipFill>
        <p:spPr>
          <a:xfrm>
            <a:off x="1" y="0"/>
            <a:ext cx="3470988" cy="6858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1A4B8B74-8F50-0F0D-F46B-BC91595E2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82A7A383-19B1-C6EF-AD0E-4F6843FD29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3470987" cy="3470987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D3BA9BB-1075-830F-6058-174044303A1F}"/>
              </a:ext>
            </a:extLst>
          </p:cNvPr>
          <p:cNvSpPr txBox="1">
            <a:spLocks/>
          </p:cNvSpPr>
          <p:nvPr/>
        </p:nvSpPr>
        <p:spPr>
          <a:xfrm>
            <a:off x="3470989" y="3318644"/>
            <a:ext cx="8644932" cy="206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Playwright</a:t>
            </a:r>
            <a:br>
              <a:rPr lang="fr-FR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fr-FR" dirty="0">
                <a:solidFill>
                  <a:srgbClr val="AAD23B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M01 - Fondamentaux &amp; Mise en route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13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944C23-0306-4C79-A615-0F5495658B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9E6F0052-C844-4C3B-948F-88E3961AD71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22BF55BC-6F2B-4024-95D5-A0C7ADD879B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04311FB-FBF7-4BC4-BD8F-F8A468C6FE97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1001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F71FCD1-EB37-485B-827A-23A3785D6F72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Qu'est-ce que </a:t>
            </a:r>
            <a:r>
              <a:rPr lang="fr-FR" err="1">
                <a:solidFill>
                  <a:srgbClr val="3B518E"/>
                </a:solidFill>
              </a:rPr>
              <a:t>Playwright</a:t>
            </a:r>
            <a:r>
              <a:rPr lang="fr-FR">
                <a:solidFill>
                  <a:srgbClr val="3B518E"/>
                </a:solidFill>
              </a:rPr>
              <a:t> ?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8EE39BE-9E8A-4EFB-AA76-646D28DDBF24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D568089-B2B3-4769-9325-554149C6E5C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0E53C560-01DD-2E68-ED74-23E63EEAF214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C2E422-176B-C098-3D6E-85C35899BAE0}"/>
              </a:ext>
            </a:extLst>
          </p:cNvPr>
          <p:cNvSpPr txBox="1"/>
          <p:nvPr/>
        </p:nvSpPr>
        <p:spPr>
          <a:xfrm>
            <a:off x="3340817" y="1265758"/>
            <a:ext cx="78881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Playwright</a:t>
            </a:r>
            <a:r>
              <a:rPr lang="fr-FR" sz="2400" dirty="0"/>
              <a:t> est un Framework open-source développé par Microsoft  qui permet de </a:t>
            </a:r>
            <a:r>
              <a:rPr lang="fr-FR" sz="2400" b="1" dirty="0"/>
              <a:t>contrôler un navigateur automatiquement</a:t>
            </a:r>
            <a:r>
              <a:rPr lang="fr-FR" sz="2400" dirty="0"/>
              <a:t> via du code, pour faire des tests de bout en bout (end-to-end, ou E2E).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C2337CA-8AF1-6DD7-97F2-B11D59753A3A}"/>
              </a:ext>
            </a:extLst>
          </p:cNvPr>
          <p:cNvSpPr txBox="1"/>
          <p:nvPr/>
        </p:nvSpPr>
        <p:spPr>
          <a:xfrm>
            <a:off x="3206598" y="4381525"/>
            <a:ext cx="78881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Vérifier que les fonctionnalités d’un site web fonctionnent comme prévu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Tester dans plusieurs navigateurs (Chrome, Firefox, Safari)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Simuler des utilisateurs réels (clics, scroll, navigation…)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Détecter des bugs avant que les utilisateurs ne les voient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19FC0C0-663E-7152-EFCD-7DD10552B659}"/>
              </a:ext>
            </a:extLst>
          </p:cNvPr>
          <p:cNvSpPr txBox="1"/>
          <p:nvPr/>
        </p:nvSpPr>
        <p:spPr>
          <a:xfrm>
            <a:off x="3048000" y="348768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A quoi ça sert </a:t>
            </a:r>
            <a:r>
              <a:rPr lang="fr-FR" sz="2800" dirty="0"/>
              <a:t>?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0C35D1CC-ED25-7DB6-7DD2-2218941CC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8" y="3217762"/>
            <a:ext cx="3171407" cy="317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6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D59C-EE46-0E08-0D55-1FB84734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9F4A54-BEE9-C546-7677-604A884E2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9DEB0BCA-1A45-1CDD-44BF-8E9DB90E869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161788A8-108B-F543-8326-E17265F59D84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A914D3A9-5168-3E23-D9D4-87DB69A933ED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Mise en place</a:t>
            </a:r>
          </a:p>
        </p:txBody>
      </p:sp>
    </p:spTree>
    <p:extLst>
      <p:ext uri="{BB962C8B-B14F-4D97-AF65-F5344CB8AC3E}">
        <p14:creationId xmlns:p14="http://schemas.microsoft.com/office/powerpoint/2010/main" val="190287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A387A-05BF-90D0-8BEE-62483345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F4A68222-F4DA-835F-D1D5-BC0BF9F7617A}"/>
              </a:ext>
            </a:extLst>
          </p:cNvPr>
          <p:cNvSpPr txBox="1"/>
          <p:nvPr/>
        </p:nvSpPr>
        <p:spPr>
          <a:xfrm>
            <a:off x="2779088" y="1323112"/>
            <a:ext cx="84348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i="0" dirty="0" err="1">
                <a:solidFill>
                  <a:srgbClr val="222222"/>
                </a:solidFill>
                <a:effectLst/>
                <a:latin typeface="+mn-lt"/>
              </a:rPr>
              <a:t>NodeJS</a:t>
            </a:r>
            <a:r>
              <a:rPr lang="fr-FR" b="0" i="0" dirty="0">
                <a:solidFill>
                  <a:srgbClr val="222222"/>
                </a:solidFill>
                <a:effectLst/>
                <a:latin typeface="+mn-lt"/>
              </a:rPr>
              <a:t> est une plateforme logicielle qui permet d’exécuter du JavaScript côté serveur.</a:t>
            </a:r>
          </a:p>
          <a:p>
            <a:pPr algn="l"/>
            <a:endParaRPr lang="fr-FR" dirty="0">
              <a:solidFill>
                <a:srgbClr val="222222"/>
              </a:solidFill>
              <a:latin typeface="+mn-lt"/>
            </a:endParaRPr>
          </a:p>
          <a:p>
            <a:pPr algn="l"/>
            <a:r>
              <a:rPr lang="fr-FR" b="1" i="0" dirty="0">
                <a:solidFill>
                  <a:srgbClr val="222222"/>
                </a:solidFill>
                <a:effectLst/>
                <a:latin typeface="+mn-lt"/>
              </a:rPr>
              <a:t>Utilité</a:t>
            </a:r>
            <a:r>
              <a:rPr lang="fr-FR" b="0" i="0" dirty="0">
                <a:solidFill>
                  <a:srgbClr val="222222"/>
                </a:solidFill>
                <a:effectLst/>
                <a:latin typeface="+mn-lt"/>
              </a:rPr>
              <a:t> : installation de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+mn-lt"/>
              </a:rPr>
              <a:t>npm</a:t>
            </a:r>
            <a:r>
              <a:rPr lang="fr-FR" b="0" i="0" dirty="0">
                <a:solidFill>
                  <a:srgbClr val="222222"/>
                </a:solidFill>
                <a:effectLst/>
                <a:latin typeface="+mn-lt"/>
              </a:rPr>
              <a:t> utile pour installer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+mn-lt"/>
              </a:rPr>
              <a:t>playwright</a:t>
            </a:r>
            <a:endParaRPr lang="fr-FR" b="0" i="0" dirty="0">
              <a:solidFill>
                <a:srgbClr val="222222"/>
              </a:solidFill>
              <a:effectLst/>
              <a:latin typeface="+mn-lt"/>
            </a:endParaRPr>
          </a:p>
          <a:p>
            <a:pPr algn="l"/>
            <a:endParaRPr lang="fr-FR" b="0" i="0" dirty="0">
              <a:solidFill>
                <a:srgbClr val="222222"/>
              </a:solidFill>
              <a:effectLst/>
              <a:latin typeface="+mn-lt"/>
            </a:endParaRPr>
          </a:p>
          <a:p>
            <a:r>
              <a:rPr lang="fr-FR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2"/>
              </a:rPr>
              <a:t>https://nodejs.org/en/download</a:t>
            </a:r>
            <a:endParaRPr lang="fr-FR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endParaRPr lang="fr-FR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</p:txBody>
      </p:sp>
      <p:pic>
        <p:nvPicPr>
          <p:cNvPr id="4" name="Image 3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C30ACE4B-563C-D7CB-7E1E-8621F2344C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95" y="3429000"/>
            <a:ext cx="5816009" cy="2844354"/>
          </a:xfrm>
          <a:prstGeom prst="rect">
            <a:avLst/>
          </a:prstGeom>
        </p:spPr>
      </p:pic>
      <p:pic>
        <p:nvPicPr>
          <p:cNvPr id="5" name="Image 4" descr="Une image contenant Graphique, logo, conception&#10;&#10;Le contenu généré par l’IA peut être incorrect.">
            <a:extLst>
              <a:ext uri="{FF2B5EF4-FFF2-40B4-BE49-F238E27FC236}">
                <a16:creationId xmlns:a16="http://schemas.microsoft.com/office/drawing/2014/main" id="{85B4B1A9-7C87-10B3-EF42-F08A7EDF6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1" y="4114799"/>
            <a:ext cx="1854834" cy="1137459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B222C21-4C7B-DB6A-6B0D-86C50984953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</p:txBody>
      </p:sp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A3812CEC-2CD9-A8FD-9006-3DEEE560975F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rgbClr val="3B518E"/>
                </a:solidFill>
              </a:rPr>
              <a:t>NodeJS</a:t>
            </a:r>
            <a:endParaRPr lang="fr-FR" dirty="0">
              <a:solidFill>
                <a:srgbClr val="3B518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00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3CD2-D7B6-F6B2-6C6C-6D3212EC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86EFD697-EB9E-2529-E2AB-AE5DC1CEFC78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Visual Studio Code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CC82342-F537-A775-B392-6E10C5504FD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  <a:p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3B1D5074-A467-0852-CCC5-A5250A8B13D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1931FDAE-4C6A-F784-836A-56DF1BFF22A9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2" descr="Une image contenant Bleu électrique, symbole, bleu, Rectangle&#10;&#10;Le contenu généré par l’IA peut être incorrect.">
            <a:extLst>
              <a:ext uri="{FF2B5EF4-FFF2-40B4-BE49-F238E27FC236}">
                <a16:creationId xmlns:a16="http://schemas.microsoft.com/office/drawing/2014/main" id="{28EB16B8-8308-5FBF-2931-5F94F9F99E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65" y="2605365"/>
            <a:ext cx="756055" cy="75605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6D698DB-623C-DB0E-0BDA-20EFE45B5DDB}"/>
              </a:ext>
            </a:extLst>
          </p:cNvPr>
          <p:cNvSpPr txBox="1"/>
          <p:nvPr/>
        </p:nvSpPr>
        <p:spPr>
          <a:xfrm>
            <a:off x="3907480" y="1582023"/>
            <a:ext cx="74625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/>
              <a:t>Visual Studio Code </a:t>
            </a:r>
            <a:r>
              <a:rPr lang="fr-FR" sz="2400"/>
              <a:t>est un éditeur de code gratuit, léger et puissant, développé par </a:t>
            </a:r>
            <a:r>
              <a:rPr lang="fr-FR" sz="2400" b="1"/>
              <a:t>Microsoft</a:t>
            </a:r>
            <a:r>
              <a:rPr lang="fr-FR" sz="2400"/>
              <a:t>, qui permet de programmer facilement dans de nombreux langages grâce à ses extensions, son </a:t>
            </a:r>
            <a:r>
              <a:rPr lang="fr-FR" sz="2400" err="1"/>
              <a:t>auto-complétion</a:t>
            </a:r>
            <a:r>
              <a:rPr lang="fr-FR" sz="2400"/>
              <a:t> intelligente et son interface personnalisable.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A74C98E-625F-659B-E65D-84ADD826DB90}"/>
              </a:ext>
            </a:extLst>
          </p:cNvPr>
          <p:cNvSpPr txBox="1"/>
          <p:nvPr/>
        </p:nvSpPr>
        <p:spPr>
          <a:xfrm>
            <a:off x="5968934" y="4300974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hlinkClick r:id="rId5"/>
              </a:rPr>
              <a:t>https://code.visualstudio.com/</a:t>
            </a:r>
            <a:endParaRPr lang="fr-FR" sz="3200" dirty="0"/>
          </a:p>
          <a:p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CD5B8A5-EDF1-8B5C-10D0-A3960E638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3070" y="3778439"/>
            <a:ext cx="3680770" cy="20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47B9-EA26-5D4B-DB97-41A4820F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35020736-4BCD-C627-7CE7-5707BE44EDAA}"/>
              </a:ext>
            </a:extLst>
          </p:cNvPr>
          <p:cNvSpPr txBox="1">
            <a:spLocks/>
          </p:cNvSpPr>
          <p:nvPr/>
        </p:nvSpPr>
        <p:spPr>
          <a:xfrm>
            <a:off x="506584" y="656010"/>
            <a:ext cx="9531496" cy="40825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Ajout du plugin nécessaire dans </a:t>
            </a:r>
            <a:r>
              <a:rPr lang="fr-FR" err="1">
                <a:solidFill>
                  <a:srgbClr val="3B518E"/>
                </a:solidFill>
              </a:rPr>
              <a:t>visual</a:t>
            </a:r>
            <a:r>
              <a:rPr lang="fr-FR">
                <a:solidFill>
                  <a:srgbClr val="3B518E"/>
                </a:solidFill>
              </a:rPr>
              <a:t> studio code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8DF78F9-BFB8-21E9-ED78-C23409DDE6FC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  <a:p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5F91C16-E235-D952-A987-CF1E086E107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C6EC5A3E-3514-4E51-BED3-3D77D13B1545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Image 1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D13F3C97-D7BE-925C-C14D-4FAC63C76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0" y="5474858"/>
            <a:ext cx="5760720" cy="129984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7FCE4D3-69DC-9778-D548-482567B41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559" y="1223913"/>
            <a:ext cx="4096322" cy="41058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D9E10A0-CDEA-ADEE-C151-C97AB413D5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0819"/>
          <a:stretch>
            <a:fillRect/>
          </a:stretch>
        </p:blipFill>
        <p:spPr>
          <a:xfrm>
            <a:off x="1802236" y="2589831"/>
            <a:ext cx="497840" cy="3296110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F998458C-D9DF-4F90-C818-F60B32BF0075}"/>
              </a:ext>
            </a:extLst>
          </p:cNvPr>
          <p:cNvSpPr/>
          <p:nvPr/>
        </p:nvSpPr>
        <p:spPr>
          <a:xfrm>
            <a:off x="1740366" y="4775200"/>
            <a:ext cx="628738" cy="5545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2787960-9141-47D8-9D1A-5CA05F48DC58}"/>
              </a:ext>
            </a:extLst>
          </p:cNvPr>
          <p:cNvSpPr/>
          <p:nvPr/>
        </p:nvSpPr>
        <p:spPr>
          <a:xfrm>
            <a:off x="4181872" y="2042161"/>
            <a:ext cx="3496009" cy="8940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545731C7-E646-706C-B9F6-43B5BF79365E}"/>
              </a:ext>
            </a:extLst>
          </p:cNvPr>
          <p:cNvSpPr/>
          <p:nvPr/>
        </p:nvSpPr>
        <p:spPr>
          <a:xfrm>
            <a:off x="2824480" y="3591692"/>
            <a:ext cx="497840" cy="230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virage 14">
            <a:extLst>
              <a:ext uri="{FF2B5EF4-FFF2-40B4-BE49-F238E27FC236}">
                <a16:creationId xmlns:a16="http://schemas.microsoft.com/office/drawing/2014/main" id="{C7897F97-DA63-DE9B-AB55-139BE90C53AC}"/>
              </a:ext>
            </a:extLst>
          </p:cNvPr>
          <p:cNvSpPr/>
          <p:nvPr/>
        </p:nvSpPr>
        <p:spPr>
          <a:xfrm rot="5400000">
            <a:off x="7863840" y="3822907"/>
            <a:ext cx="1168400" cy="54292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76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5E47-0C34-5B81-AB56-E353E5A9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D140966F-4E60-D55E-1527-9E5E169C691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Installation de </a:t>
            </a:r>
            <a:r>
              <a:rPr lang="fr-FR" err="1">
                <a:solidFill>
                  <a:srgbClr val="3B518E"/>
                </a:solidFill>
              </a:rPr>
              <a:t>Playwright</a:t>
            </a:r>
            <a:endParaRPr lang="fr-FR">
              <a:solidFill>
                <a:srgbClr val="3B518E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5F4353F-FBA5-AFD1-9C1B-6C7E19626C36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  <a:p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3B96000-95AF-E33D-7594-EBE27B4F556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63F91D3C-3367-2533-D460-EE5F509E0D74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A38813-7C49-8DBC-DB80-368E38DA6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50" y="3429000"/>
            <a:ext cx="2457890" cy="212831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01194AD-3A04-9A67-1BEC-328A1B6A835C}"/>
              </a:ext>
            </a:extLst>
          </p:cNvPr>
          <p:cNvSpPr txBox="1"/>
          <p:nvPr/>
        </p:nvSpPr>
        <p:spPr>
          <a:xfrm>
            <a:off x="2429694" y="2390083"/>
            <a:ext cx="89953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Création du projet </a:t>
            </a:r>
            <a:r>
              <a:rPr lang="fr-FR" sz="3200" dirty="0" err="1"/>
              <a:t>Playwright</a:t>
            </a:r>
            <a:r>
              <a:rPr lang="fr-FR" sz="3200" dirty="0"/>
              <a:t> dans le terminal de </a:t>
            </a:r>
            <a:r>
              <a:rPr lang="fr-FR" sz="3200" dirty="0" err="1"/>
              <a:t>visual</a:t>
            </a:r>
            <a:r>
              <a:rPr lang="fr-FR" sz="3200" dirty="0"/>
              <a:t> studio code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sz="2400" dirty="0"/>
              <a:t>		</a:t>
            </a:r>
            <a:r>
              <a:rPr lang="fr-FR" sz="3200" b="1" dirty="0" err="1"/>
              <a:t>npm</a:t>
            </a:r>
            <a:r>
              <a:rPr lang="fr-FR" sz="3200" b="1" dirty="0"/>
              <a:t> init </a:t>
            </a:r>
            <a:r>
              <a:rPr lang="fr-FR" sz="3200" b="1" dirty="0" err="1"/>
              <a:t>playwright@latest</a:t>
            </a:r>
            <a:endParaRPr lang="fr-FR" sz="3200" b="1" dirty="0"/>
          </a:p>
          <a:p>
            <a:r>
              <a:rPr lang="fr-FR" sz="2400" dirty="0"/>
              <a:t> </a:t>
            </a:r>
          </a:p>
          <a:p>
            <a:r>
              <a:rPr lang="fr-FR" sz="2400" dirty="0"/>
              <a:t>			(Ouvrir le terminal sur </a:t>
            </a:r>
            <a:r>
              <a:rPr lang="fr-FR" sz="2400" dirty="0" err="1"/>
              <a:t>visual</a:t>
            </a:r>
            <a:r>
              <a:rPr lang="fr-FR" sz="2400" dirty="0"/>
              <a:t> studio </a:t>
            </a:r>
            <a:r>
              <a:rPr lang="fr-FR" sz="2400" dirty="0" err="1"/>
              <a:t>crtl</a:t>
            </a:r>
            <a:r>
              <a:rPr lang="fr-FR" sz="2400" dirty="0"/>
              <a:t> + ù)</a:t>
            </a:r>
          </a:p>
        </p:txBody>
      </p:sp>
    </p:spTree>
    <p:extLst>
      <p:ext uri="{BB962C8B-B14F-4D97-AF65-F5344CB8AC3E}">
        <p14:creationId xmlns:p14="http://schemas.microsoft.com/office/powerpoint/2010/main" val="235758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1218-A567-90FF-0AE8-559C91A6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87D15404-0192-8A81-AB9E-8C45F7C6C7DF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Installation de </a:t>
            </a:r>
            <a:r>
              <a:rPr lang="fr-FR" err="1">
                <a:solidFill>
                  <a:srgbClr val="3B518E"/>
                </a:solidFill>
              </a:rPr>
              <a:t>Playwright</a:t>
            </a:r>
            <a:endParaRPr lang="fr-FR">
              <a:solidFill>
                <a:srgbClr val="3B518E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63D2DFD-88B2-DFA9-72D5-66C559F97A83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  <a:p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8C69A45-966B-642A-F234-7E27FFA5E56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D452CDF3-4A22-2DC1-2258-4DE1D2932BC1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1B6DC5D-EF51-2D0E-E54F-ADC5AACBA1BF}"/>
              </a:ext>
            </a:extLst>
          </p:cNvPr>
          <p:cNvSpPr txBox="1"/>
          <p:nvPr/>
        </p:nvSpPr>
        <p:spPr>
          <a:xfrm>
            <a:off x="3005627" y="1718474"/>
            <a:ext cx="78881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Le choix du </a:t>
            </a:r>
            <a:r>
              <a:rPr lang="fr-FR" sz="2400" dirty="0" err="1"/>
              <a:t>language</a:t>
            </a:r>
            <a:r>
              <a:rPr lang="fr-FR" sz="2400" dirty="0"/>
              <a:t> utilisé par les tests s'effectue entre JavaScript et </a:t>
            </a:r>
            <a:r>
              <a:rPr lang="fr-FR" sz="2400" dirty="0" err="1"/>
              <a:t>TypeScript</a:t>
            </a:r>
            <a:r>
              <a:rPr lang="fr-FR" sz="2400" dirty="0"/>
              <a:t>.</a:t>
            </a:r>
          </a:p>
          <a:p>
            <a:r>
              <a:rPr lang="fr-FR" sz="2400" dirty="0"/>
              <a:t>Pour simplifier </a:t>
            </a:r>
            <a:r>
              <a:rPr lang="fr-FR" sz="2400" dirty="0" err="1"/>
              <a:t>TypeScript</a:t>
            </a:r>
            <a:r>
              <a:rPr lang="fr-FR" sz="2400" dirty="0"/>
              <a:t> est une version typée de JavaScript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1F89A19-8EB9-D4A7-A74B-2E857E5E0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116" y="3429000"/>
            <a:ext cx="727811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3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5AF5-FC87-8F7C-296F-C18ECC24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A4C0372B-B2DA-6D8D-A5AA-59C94FC80B32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Installation de </a:t>
            </a:r>
            <a:r>
              <a:rPr lang="fr-FR" err="1">
                <a:solidFill>
                  <a:srgbClr val="3B518E"/>
                </a:solidFill>
              </a:rPr>
              <a:t>Playwright</a:t>
            </a:r>
            <a:endParaRPr lang="fr-FR">
              <a:solidFill>
                <a:srgbClr val="3B518E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B861A45-35EB-C691-094C-010511B76A05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  <a:p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F70361-B797-2598-F526-5FB2FBD4EEB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275E92E1-70FE-EAA7-2A10-3FC6BBA6D4CF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DCC2D15-DB36-35C4-3895-6FF91A1568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595" b="20580"/>
          <a:stretch>
            <a:fillRect/>
          </a:stretch>
        </p:blipFill>
        <p:spPr>
          <a:xfrm>
            <a:off x="3680124" y="1967707"/>
            <a:ext cx="7465414" cy="28370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B613835-C816-8187-02B9-A35997AEABCA}"/>
              </a:ext>
            </a:extLst>
          </p:cNvPr>
          <p:cNvSpPr txBox="1"/>
          <p:nvPr/>
        </p:nvSpPr>
        <p:spPr>
          <a:xfrm>
            <a:off x="3108957" y="1286025"/>
            <a:ext cx="8607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Définition du chemin ou les tests seront stockés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1743510-40E8-C589-035F-1EBF4B6212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833"/>
          <a:stretch>
            <a:fillRect/>
          </a:stretch>
        </p:blipFill>
        <p:spPr>
          <a:xfrm>
            <a:off x="882961" y="5377424"/>
            <a:ext cx="11107700" cy="35243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F4DA269-B991-D666-6B6A-C748582CA4E0}"/>
              </a:ext>
            </a:extLst>
          </p:cNvPr>
          <p:cNvSpPr txBox="1"/>
          <p:nvPr/>
        </p:nvSpPr>
        <p:spPr>
          <a:xfrm>
            <a:off x="3108957" y="2534957"/>
            <a:ext cx="9145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Souhaites-tu générer un fichier de configuration pour GitHub Actions ? (lancement des tests dans un pipeline CI/CD)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49DC3F2-D484-4228-958C-A439C550D5A0}"/>
              </a:ext>
            </a:extLst>
          </p:cNvPr>
          <p:cNvSpPr txBox="1"/>
          <p:nvPr/>
        </p:nvSpPr>
        <p:spPr>
          <a:xfrm>
            <a:off x="3098315" y="4261742"/>
            <a:ext cx="9145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Permet d’exécuter les tests dans un environnement contrôlé et identique sur toutes les machines.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F013803-4A62-0775-6723-F95D72F6F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649" r="32790" b="18024"/>
          <a:stretch>
            <a:fillRect/>
          </a:stretch>
        </p:blipFill>
        <p:spPr>
          <a:xfrm>
            <a:off x="3680124" y="3509295"/>
            <a:ext cx="7465414" cy="31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6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19FB19-BC5C-4CA3-B36F-D05031688B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4792626-5EDF-457E-BC47-35973147636D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7BC588E-A495-49A9-8813-628670F8E4BB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594D2172-FB13-492C-B76B-A385911C5851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3D0C3274-FA67-4536-99D7-BF36DC8EB5D9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8A5F0E14-750D-4317-86A8-BA8B26E435A6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D4B8AE3F-44D0-4D41-9A92-0871B449521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place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3ECC1C3A-EA26-42AD-BEC3-DCF5FBAA17F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F370911A-DC8A-44E7-BC5B-3A98548EDA9D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BDF6E1C4-75C9-4326-96F9-5F0FA302E826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Installation de </a:t>
            </a:r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Playwright</a:t>
            </a:r>
            <a:endParaRPr lang="fr-FR" sz="44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D036-DF39-B279-DF24-570B33900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A10D26-F7FF-BA90-1FE7-ABF0559C06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80537587-261C-4AED-E2D1-A71371ACD19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389E5B8C-B82D-2639-962E-905752C9DA0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212AF627-10A6-9E48-7B4B-7119A30F55B7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Premiers tests</a:t>
            </a:r>
          </a:p>
        </p:txBody>
      </p:sp>
    </p:spTree>
    <p:extLst>
      <p:ext uri="{BB962C8B-B14F-4D97-AF65-F5344CB8AC3E}">
        <p14:creationId xmlns:p14="http://schemas.microsoft.com/office/powerpoint/2010/main" val="32020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6AC37-91EA-53F3-D396-DC1858A3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9162FD58-246B-1A74-1F52-C14E1196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682" y="2805106"/>
            <a:ext cx="3515216" cy="2638793"/>
          </a:xfrm>
          <a:prstGeom prst="rect">
            <a:avLst/>
          </a:prstGeom>
        </p:spPr>
      </p:pic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D13CC7AE-8414-2EC2-62EB-1161D46ED903}"/>
              </a:ext>
            </a:extLst>
          </p:cNvPr>
          <p:cNvSpPr txBox="1">
            <a:spLocks/>
          </p:cNvSpPr>
          <p:nvPr/>
        </p:nvSpPr>
        <p:spPr>
          <a:xfrm>
            <a:off x="393346" y="1051356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Lancement du premier test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BFC34B3-8764-1AF0-8C99-27D74545B138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Premiers tests</a:t>
            </a:r>
          </a:p>
          <a:p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289A9726-1146-B6A3-C389-11EF345E38B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1732A8C-B60F-C6D3-1828-A0F2240F0C6D}"/>
              </a:ext>
            </a:extLst>
          </p:cNvPr>
          <p:cNvSpPr txBox="1"/>
          <p:nvPr/>
        </p:nvSpPr>
        <p:spPr>
          <a:xfrm>
            <a:off x="2935287" y="895229"/>
            <a:ext cx="84243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1 - Lancement des tests dans le terminal</a:t>
            </a:r>
            <a:endParaRPr lang="fr-FR" sz="2400" b="1" dirty="0"/>
          </a:p>
          <a:p>
            <a:r>
              <a:rPr lang="fr-FR" sz="2400" b="1" dirty="0"/>
              <a:t>		</a:t>
            </a:r>
            <a:r>
              <a:rPr lang="fr-FR" sz="2400" b="1" dirty="0" err="1"/>
              <a:t>npx</a:t>
            </a:r>
            <a:r>
              <a:rPr lang="fr-FR" sz="2400" b="1" dirty="0"/>
              <a:t> </a:t>
            </a:r>
            <a:r>
              <a:rPr lang="fr-FR" sz="2400" b="1" dirty="0" err="1"/>
              <a:t>playwright</a:t>
            </a:r>
            <a:r>
              <a:rPr lang="fr-FR" sz="2400" b="1" dirty="0"/>
              <a:t> test</a:t>
            </a:r>
          </a:p>
          <a:p>
            <a:endParaRPr lang="fr-FR" sz="2400" dirty="0"/>
          </a:p>
          <a:p>
            <a:r>
              <a:rPr lang="fr-FR" sz="2400" dirty="0"/>
              <a:t>2 - En allant dans l’onglet </a:t>
            </a:r>
            <a:r>
              <a:rPr lang="fr-FR" sz="2400" dirty="0" err="1"/>
              <a:t>testing</a:t>
            </a:r>
            <a:r>
              <a:rPr lang="fr-FR" sz="2400" dirty="0"/>
              <a:t> en lançant le test grâce à la flèche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513E578-F3E2-DA46-C023-16D0FDD4CCB9}"/>
              </a:ext>
            </a:extLst>
          </p:cNvPr>
          <p:cNvSpPr/>
          <p:nvPr/>
        </p:nvSpPr>
        <p:spPr>
          <a:xfrm>
            <a:off x="6706616" y="4588931"/>
            <a:ext cx="506543" cy="4426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4B14199-37D8-268A-D5B9-A927A1B3A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972" y="2506113"/>
            <a:ext cx="495369" cy="3391373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389A3910-E58F-6818-90DC-D7401FD9E1BD}"/>
              </a:ext>
            </a:extLst>
          </p:cNvPr>
          <p:cNvSpPr/>
          <p:nvPr/>
        </p:nvSpPr>
        <p:spPr>
          <a:xfrm>
            <a:off x="2935287" y="5331217"/>
            <a:ext cx="628738" cy="5545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C6FDE00F-2635-01BC-78B5-84961675B2D1}"/>
              </a:ext>
            </a:extLst>
          </p:cNvPr>
          <p:cNvSpPr/>
          <p:nvPr/>
        </p:nvSpPr>
        <p:spPr>
          <a:xfrm>
            <a:off x="3658416" y="3588564"/>
            <a:ext cx="495369" cy="4605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0C1CA9-C7DF-0475-C93A-CEF8A31D9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1330" y="4921020"/>
            <a:ext cx="1914792" cy="16861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8F59B6E-62E6-7025-F3AB-4D19B71C7612}"/>
              </a:ext>
            </a:extLst>
          </p:cNvPr>
          <p:cNvSpPr txBox="1"/>
          <p:nvPr/>
        </p:nvSpPr>
        <p:spPr>
          <a:xfrm>
            <a:off x="8295871" y="4201800"/>
            <a:ext cx="4643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3 - Directement dans le test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1D4EBA7-7E84-6D43-D40E-F99D383B6778}"/>
              </a:ext>
            </a:extLst>
          </p:cNvPr>
          <p:cNvSpPr/>
          <p:nvPr/>
        </p:nvSpPr>
        <p:spPr>
          <a:xfrm>
            <a:off x="9411837" y="4931163"/>
            <a:ext cx="506543" cy="4426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07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0E57-437F-F5DC-56DD-6D5D48CD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52B6E50-FC92-1E62-A5EE-67FFAEBACBA8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Outil dans l’interface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57C8BB7-3EC1-AD48-B9E9-FA3A39F44D6C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Premiers tests</a:t>
            </a: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168F413-5D56-9CDF-0283-0FF828D0E65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2500021F-8349-2FD9-F753-5441541991B5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DFC659-E658-7282-BC85-D3F54AB7F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686" y="1009757"/>
            <a:ext cx="2641424" cy="511502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8CFEFA7-110C-A989-A66F-874CF9AD01C4}"/>
              </a:ext>
            </a:extLst>
          </p:cNvPr>
          <p:cNvSpPr txBox="1"/>
          <p:nvPr/>
        </p:nvSpPr>
        <p:spPr>
          <a:xfrm>
            <a:off x="5657070" y="1210006"/>
            <a:ext cx="63479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Pick Locator : </a:t>
            </a:r>
            <a:r>
              <a:rPr lang="fr-FR" sz="2000" dirty="0"/>
              <a:t>Sélectionner un élément sur une page ouverte pour récupérer un </a:t>
            </a:r>
            <a:r>
              <a:rPr lang="fr-FR" sz="2000" dirty="0" err="1"/>
              <a:t>locator</a:t>
            </a:r>
            <a:r>
              <a:rPr lang="fr-FR" sz="2000" dirty="0"/>
              <a:t> automatiquement.</a:t>
            </a:r>
          </a:p>
          <a:p>
            <a:endParaRPr lang="fr-FR" sz="2000" dirty="0"/>
          </a:p>
          <a:p>
            <a:r>
              <a:rPr lang="fr-FR" sz="2000" b="1" dirty="0"/>
              <a:t>Record new… : </a:t>
            </a:r>
            <a:r>
              <a:rPr lang="fr-FR" sz="2000" dirty="0"/>
              <a:t>Créer automatiquement du code enregistrer pendant que tu interagis avec le site.</a:t>
            </a:r>
          </a:p>
          <a:p>
            <a:endParaRPr lang="fr-FR" sz="2000" dirty="0"/>
          </a:p>
          <a:p>
            <a:r>
              <a:rPr lang="fr-FR" sz="2000" b="1" dirty="0"/>
              <a:t>Record at </a:t>
            </a:r>
            <a:r>
              <a:rPr lang="fr-FR" sz="2000" b="1" dirty="0" err="1"/>
              <a:t>cursor</a:t>
            </a:r>
            <a:r>
              <a:rPr lang="fr-FR" sz="2000" b="1" dirty="0"/>
              <a:t> : </a:t>
            </a:r>
            <a:r>
              <a:rPr lang="fr-FR" sz="2000" dirty="0"/>
              <a:t>Même principe que Record new, mais insère directement le code généré à l'endroit du curseur.</a:t>
            </a:r>
          </a:p>
          <a:p>
            <a:endParaRPr lang="fr-FR" sz="2000" dirty="0"/>
          </a:p>
          <a:p>
            <a:r>
              <a:rPr lang="fr-FR" sz="2000" b="1" dirty="0"/>
              <a:t>Reveal test output : </a:t>
            </a:r>
            <a:r>
              <a:rPr lang="fr-FR" sz="2000" dirty="0"/>
              <a:t>Affiche l’onglet de résultats de test.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A4C95-4132-E775-ED68-4E00E1A0867F}"/>
              </a:ext>
            </a:extLst>
          </p:cNvPr>
          <p:cNvSpPr/>
          <p:nvPr/>
        </p:nvSpPr>
        <p:spPr>
          <a:xfrm>
            <a:off x="2640686" y="1517073"/>
            <a:ext cx="1401378" cy="872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36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94D9-466F-A568-7358-080885FA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D8286CB8-7B6B-371E-80B8-E257CCAE946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Outil dans l’interface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9FF466F-D1C5-894F-3164-4951FA07DC4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Premiers tests</a:t>
            </a: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96A4D96-825F-DD87-66AD-ECA7EB227C7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FBED4F55-08D5-9069-D531-AA92D8F1049F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FF4DE71-9407-3099-12BB-712D6D810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847" y="971550"/>
            <a:ext cx="2641424" cy="511502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832D283-FACA-3350-7CB1-4856396B778D}"/>
              </a:ext>
            </a:extLst>
          </p:cNvPr>
          <p:cNvSpPr txBox="1"/>
          <p:nvPr/>
        </p:nvSpPr>
        <p:spPr>
          <a:xfrm>
            <a:off x="4981823" y="1696466"/>
            <a:ext cx="70037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Moteurs de rendu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b="1" dirty="0" err="1"/>
              <a:t>Chromium</a:t>
            </a:r>
            <a:r>
              <a:rPr lang="fr-FR" sz="2000" b="1" dirty="0"/>
              <a:t> : </a:t>
            </a:r>
            <a:r>
              <a:rPr lang="fr-FR" sz="2000" dirty="0"/>
              <a:t>Chrome, Edge, Opera;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b="1" dirty="0"/>
              <a:t>Firefox : </a:t>
            </a:r>
            <a:r>
              <a:rPr lang="fr-FR" sz="2000" dirty="0" err="1"/>
              <a:t>firefox</a:t>
            </a:r>
            <a:r>
              <a:rPr lang="fr-FR" sz="2000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b="1" dirty="0" err="1"/>
              <a:t>Webkit</a:t>
            </a:r>
            <a:r>
              <a:rPr lang="fr-FR" sz="2000" b="1" dirty="0"/>
              <a:t> :</a:t>
            </a:r>
            <a:r>
              <a:rPr lang="fr-FR" sz="2000" dirty="0"/>
              <a:t> Safari.</a:t>
            </a:r>
          </a:p>
          <a:p>
            <a:endParaRPr lang="fr-FR" sz="2000" b="1" dirty="0"/>
          </a:p>
          <a:p>
            <a:r>
              <a:rPr lang="fr-FR" sz="2000" b="1" dirty="0"/>
              <a:t>Show browser: </a:t>
            </a:r>
            <a:r>
              <a:rPr lang="fr-FR" sz="2000" dirty="0"/>
              <a:t>affichage du navigateur pendant l’exécution des tests afin de visualiser les actions réalisées en temps réel.</a:t>
            </a:r>
          </a:p>
          <a:p>
            <a:endParaRPr lang="fr-FR" sz="2000" b="1" dirty="0"/>
          </a:p>
          <a:p>
            <a:r>
              <a:rPr lang="fr-FR" sz="2000" dirty="0"/>
              <a:t>Si les 3 moteurs de rendu sont sélectionnés  3 fenêtres sont lancés.</a:t>
            </a:r>
          </a:p>
          <a:p>
            <a:endParaRPr lang="fr-FR" sz="2000" dirty="0"/>
          </a:p>
          <a:p>
            <a:r>
              <a:rPr lang="fr-FR" sz="2000" b="1" dirty="0"/>
              <a:t>Show trace </a:t>
            </a:r>
            <a:r>
              <a:rPr lang="fr-FR" sz="2000" b="1" dirty="0" err="1"/>
              <a:t>wiewer</a:t>
            </a:r>
            <a:r>
              <a:rPr lang="fr-FR" sz="2000" b="1" dirty="0"/>
              <a:t> : </a:t>
            </a:r>
            <a:r>
              <a:rPr lang="fr-FR" sz="2000" dirty="0"/>
              <a:t>lance</a:t>
            </a:r>
            <a:r>
              <a:rPr lang="fr-FR" sz="2000" b="1" dirty="0"/>
              <a:t> </a:t>
            </a:r>
            <a:r>
              <a:rPr lang="fr-FR" sz="2000" dirty="0" err="1"/>
              <a:t>playwright</a:t>
            </a:r>
            <a:r>
              <a:rPr lang="fr-FR" sz="2000" dirty="0"/>
              <a:t> UI (</a:t>
            </a:r>
            <a:r>
              <a:rPr lang="fr-FR" sz="2000" dirty="0" err="1"/>
              <a:t>npx</a:t>
            </a:r>
            <a:r>
              <a:rPr lang="fr-FR" sz="2000" dirty="0"/>
              <a:t> </a:t>
            </a:r>
            <a:r>
              <a:rPr lang="fr-FR" sz="2000" dirty="0" err="1"/>
              <a:t>playwright</a:t>
            </a:r>
            <a:r>
              <a:rPr lang="fr-FR" sz="2000" dirty="0"/>
              <a:t> test –</a:t>
            </a:r>
            <a:r>
              <a:rPr lang="fr-FR" sz="2000" dirty="0" err="1"/>
              <a:t>ui</a:t>
            </a:r>
            <a:r>
              <a:rPr lang="fr-FR" sz="2000" dirty="0"/>
              <a:t>)</a:t>
            </a:r>
          </a:p>
          <a:p>
            <a:endParaRPr lang="fr-FR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B66D40-5638-1E2B-BA92-9F40A87DDC7D}"/>
              </a:ext>
            </a:extLst>
          </p:cNvPr>
          <p:cNvSpPr/>
          <p:nvPr/>
        </p:nvSpPr>
        <p:spPr>
          <a:xfrm>
            <a:off x="2236761" y="2667230"/>
            <a:ext cx="1344798" cy="8552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2F92DBB-7BFF-FF82-CCF2-30F1D75CA209}"/>
              </a:ext>
            </a:extLst>
          </p:cNvPr>
          <p:cNvCxnSpPr>
            <a:cxnSpLocks/>
          </p:cNvCxnSpPr>
          <p:nvPr/>
        </p:nvCxnSpPr>
        <p:spPr>
          <a:xfrm flipH="1">
            <a:off x="3825174" y="2545773"/>
            <a:ext cx="1264002" cy="737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572386A-03F8-C6CC-2537-D61FCEFEEC91}"/>
              </a:ext>
            </a:extLst>
          </p:cNvPr>
          <p:cNvCxnSpPr>
            <a:cxnSpLocks/>
          </p:cNvCxnSpPr>
          <p:nvPr/>
        </p:nvCxnSpPr>
        <p:spPr>
          <a:xfrm flipH="1">
            <a:off x="3717821" y="3591692"/>
            <a:ext cx="1264002" cy="11545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FE013B4-EE8A-6A21-2F00-55198CF2320B}"/>
              </a:ext>
            </a:extLst>
          </p:cNvPr>
          <p:cNvCxnSpPr>
            <a:cxnSpLocks/>
          </p:cNvCxnSpPr>
          <p:nvPr/>
        </p:nvCxnSpPr>
        <p:spPr>
          <a:xfrm flipH="1" flipV="1">
            <a:off x="3539470" y="5054362"/>
            <a:ext cx="1386887" cy="1638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88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8BF9-7384-C9C0-6860-12685BF1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79DC2F71-F9C0-0D00-18AD-B6BB499AF9DD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3206298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Exemples de tests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F54214D-BC15-86E7-1BCD-43ABC173444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215BE647-500F-B1C2-6F71-2E2F3AEBD6D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1B163431-544A-1B66-BA22-29F8D9C142C2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DF9E92-E75F-1B80-DC9C-E2C248288657}"/>
              </a:ext>
            </a:extLst>
          </p:cNvPr>
          <p:cNvSpPr txBox="1"/>
          <p:nvPr/>
        </p:nvSpPr>
        <p:spPr>
          <a:xfrm>
            <a:off x="3693147" y="1643227"/>
            <a:ext cx="10133692" cy="531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test,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/test’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'has 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page }) </a:t>
            </a:r>
            <a:r>
              <a:rPr lang="fr-F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'https://playwright.dev/'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"to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contain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a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(page).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toHaveTitle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started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page }) </a:t>
            </a:r>
            <a:r>
              <a:rPr lang="fr-F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'https://playwright.dev/'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Click the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started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link</a:t>
            </a:r>
            <a:endParaRPr lang="fr-FR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page.getByRole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started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}).click();</a:t>
            </a:r>
          </a:p>
          <a:p>
            <a:pPr>
              <a:lnSpc>
                <a:spcPts val="1425"/>
              </a:lnSpc>
              <a:buNone/>
            </a:pPr>
            <a:b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Expects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page to have a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the </a:t>
            </a:r>
            <a:r>
              <a:rPr lang="fr-F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of Installation.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page.getByRole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'Installation'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})).</a:t>
            </a:r>
            <a:r>
              <a:rPr lang="fr-F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toBeVisible</a:t>
            </a: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br>
              <a:rPr lang="fr-F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ECA29BCD-F628-75EB-0282-D36011C6226A}"/>
              </a:ext>
            </a:extLst>
          </p:cNvPr>
          <p:cNvSpPr/>
          <p:nvPr/>
        </p:nvSpPr>
        <p:spPr>
          <a:xfrm>
            <a:off x="3511172" y="3924216"/>
            <a:ext cx="175809" cy="258075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977A889C-9042-28DC-84C9-51FFFC2865DB}"/>
              </a:ext>
            </a:extLst>
          </p:cNvPr>
          <p:cNvSpPr/>
          <p:nvPr/>
        </p:nvSpPr>
        <p:spPr>
          <a:xfrm>
            <a:off x="3511172" y="2181150"/>
            <a:ext cx="188140" cy="15906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226328-DF9C-83DA-B93D-D8657C02EABA}"/>
              </a:ext>
            </a:extLst>
          </p:cNvPr>
          <p:cNvSpPr txBox="1"/>
          <p:nvPr/>
        </p:nvSpPr>
        <p:spPr>
          <a:xfrm>
            <a:off x="1930" y="2187615"/>
            <a:ext cx="34469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test1 : </a:t>
            </a:r>
          </a:p>
          <a:p>
            <a:r>
              <a:rPr lang="fr-FR" sz="2000" dirty="0"/>
              <a:t>vérifie que le titre de la page </a:t>
            </a:r>
            <a:r>
              <a:rPr lang="fr-FR" sz="2000" b="1" dirty="0"/>
              <a:t>https://playwright.dev </a:t>
            </a:r>
            <a:r>
              <a:rPr lang="fr-FR" sz="2000" dirty="0"/>
              <a:t>est </a:t>
            </a:r>
            <a:r>
              <a:rPr lang="fr-FR" sz="2000" b="1" dirty="0" err="1"/>
              <a:t>Playwright</a:t>
            </a:r>
            <a:endParaRPr lang="fr-FR" sz="2000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2609D92-08B4-9F2C-73EB-CC6DD3E662C9}"/>
              </a:ext>
            </a:extLst>
          </p:cNvPr>
          <p:cNvSpPr txBox="1"/>
          <p:nvPr/>
        </p:nvSpPr>
        <p:spPr>
          <a:xfrm>
            <a:off x="21249" y="4032496"/>
            <a:ext cx="34837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/>
              <a:t>test2 : </a:t>
            </a:r>
          </a:p>
          <a:p>
            <a:r>
              <a:rPr lang="fr-FR" sz="2000"/>
              <a:t>Clique sur le bouton </a:t>
            </a:r>
            <a:r>
              <a:rPr lang="fr-FR" sz="2000" b="1" err="1"/>
              <a:t>Get</a:t>
            </a:r>
            <a:r>
              <a:rPr lang="fr-FR" sz="2000" b="1"/>
              <a:t> </a:t>
            </a:r>
            <a:r>
              <a:rPr lang="fr-FR" sz="2000" b="1" err="1"/>
              <a:t>started</a:t>
            </a:r>
            <a:r>
              <a:rPr lang="fr-FR" sz="2000" b="1"/>
              <a:t> </a:t>
            </a:r>
            <a:r>
              <a:rPr lang="fr-FR" sz="2000"/>
              <a:t>puis vérifie la présence d’un header dont le texte est </a:t>
            </a:r>
            <a:r>
              <a:rPr lang="fr-FR" sz="2000" b="1"/>
              <a:t>Installation</a:t>
            </a:r>
          </a:p>
        </p:txBody>
      </p:sp>
    </p:spTree>
    <p:extLst>
      <p:ext uri="{BB962C8B-B14F-4D97-AF65-F5344CB8AC3E}">
        <p14:creationId xmlns:p14="http://schemas.microsoft.com/office/powerpoint/2010/main" val="152630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4A05-803C-23E9-D6C7-9B968A3D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228E69B7-5471-64A1-2166-A50C29DE2F2E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Record new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418C054-CAE7-F606-AA60-294824F24088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F734D11F-2B03-042F-E26E-933AE4BD946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DF02F047-FCAD-E9C2-264A-E3289191D76D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1110D3A-F36D-EAB6-858C-4722BCEB5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597" y="4956049"/>
            <a:ext cx="6754368" cy="1803837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7D8E13AA-A0E8-467F-5A8E-0ED015A220E4}"/>
              </a:ext>
            </a:extLst>
          </p:cNvPr>
          <p:cNvSpPr txBox="1"/>
          <p:nvPr/>
        </p:nvSpPr>
        <p:spPr>
          <a:xfrm>
            <a:off x="2830262" y="1207141"/>
            <a:ext cx="84243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Création d’un nouveau fichier de test :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B7D3671-C5F4-A50B-9192-5B3D7561E36F}"/>
              </a:ext>
            </a:extLst>
          </p:cNvPr>
          <p:cNvSpPr txBox="1"/>
          <p:nvPr/>
        </p:nvSpPr>
        <p:spPr>
          <a:xfrm>
            <a:off x="2785689" y="4388690"/>
            <a:ext cx="9052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Lancement d’un explorateur dans lequel nous allons réaliser notre test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A6DBB8B-BB6F-7C73-07CF-7B63B0B3983F}"/>
              </a:ext>
            </a:extLst>
          </p:cNvPr>
          <p:cNvSpPr txBox="1"/>
          <p:nvPr/>
        </p:nvSpPr>
        <p:spPr>
          <a:xfrm>
            <a:off x="2522905" y="140553"/>
            <a:ext cx="8095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Le record new permet de créer un test en se basant sur les actions de l’utilisateur</a:t>
            </a:r>
            <a:endParaRPr lang="fr-FR" sz="2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78A72D-6CEE-B269-7EBC-D79BA6E4D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812" y="1809939"/>
            <a:ext cx="6747106" cy="242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9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F97B-7378-09B8-1A31-0ECBD892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413240DA-FACF-55D4-DCD1-015523BB7FD0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Record new :</a:t>
            </a:r>
          </a:p>
          <a:p>
            <a:r>
              <a:rPr lang="fr-FR" dirty="0">
                <a:solidFill>
                  <a:srgbClr val="3B518E"/>
                </a:solidFill>
              </a:rPr>
              <a:t>Première étape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14CEEE6-6E67-DF65-B031-A409C55F43BB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923397E-E711-0660-2CFF-58D2389A016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06E7A46E-B07E-104E-7229-97231F49D6FC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8643B6-0C79-3552-EF08-2F2E8FDB8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74" y="1318392"/>
            <a:ext cx="6401693" cy="268642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41CFB99-A72C-D0E3-88BB-15F51FE39E8A}"/>
              </a:ext>
            </a:extLst>
          </p:cNvPr>
          <p:cNvSpPr txBox="1"/>
          <p:nvPr/>
        </p:nvSpPr>
        <p:spPr>
          <a:xfrm>
            <a:off x="2730324" y="540939"/>
            <a:ext cx="84243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Entrer l’adresse du site à tester dans la barre des tâches :</a:t>
            </a:r>
            <a:endParaRPr lang="fr-FR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F339878-1945-798B-FBD4-D515C6384144}"/>
              </a:ext>
            </a:extLst>
          </p:cNvPr>
          <p:cNvSpPr txBox="1"/>
          <p:nvPr/>
        </p:nvSpPr>
        <p:spPr>
          <a:xfrm>
            <a:off x="2730324" y="43206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Implique l’ajout de la ligne dans le fichier de test permettant l’accès au site :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9D7AE09-C6EB-570A-D8F7-A7365A6E8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673" y="4925612"/>
            <a:ext cx="6220693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6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B581-76F0-986F-8328-A8EB38B8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1B6BC1B0-659C-96FF-3F1E-C7705FB2985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Record new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1F62F7A-1C04-125D-7B01-8520577C0F3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325CBD7-09EE-83A0-FD7A-293028D6609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27778361-CD0C-DF49-B65D-8E7F02AEEB77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367E929-6DBF-583C-31AC-FD60E517DF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385" b="31552"/>
          <a:stretch>
            <a:fillRect/>
          </a:stretch>
        </p:blipFill>
        <p:spPr>
          <a:xfrm>
            <a:off x="3581559" y="1148383"/>
            <a:ext cx="5215789" cy="46054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7971850-ADA5-FDF7-066D-AE19A13A3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0821" y="2467637"/>
            <a:ext cx="653258" cy="332435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D2C7DD6-8A6A-6F18-6F9E-F74B4D4A386E}"/>
              </a:ext>
            </a:extLst>
          </p:cNvPr>
          <p:cNvSpPr txBox="1"/>
          <p:nvPr/>
        </p:nvSpPr>
        <p:spPr>
          <a:xfrm>
            <a:off x="3470550" y="2539449"/>
            <a:ext cx="7940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Arrêter l’enregistrement des actions réaliser par l’utilisateur</a:t>
            </a:r>
          </a:p>
          <a:p>
            <a:endParaRPr lang="fr-FR" b="1" dirty="0"/>
          </a:p>
          <a:p>
            <a:r>
              <a:rPr lang="fr-FR" b="1" dirty="0"/>
              <a:t>Pick Locator</a:t>
            </a:r>
          </a:p>
          <a:p>
            <a:endParaRPr lang="fr-FR" b="1" dirty="0"/>
          </a:p>
        </p:txBody>
      </p: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448D2AD5-4429-4E72-C0F6-698F248AF726}"/>
              </a:ext>
            </a:extLst>
          </p:cNvPr>
          <p:cNvSpPr/>
          <p:nvPr/>
        </p:nvSpPr>
        <p:spPr>
          <a:xfrm>
            <a:off x="3470550" y="3588774"/>
            <a:ext cx="187480" cy="220321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9F0EB02-DBFC-D887-B63A-8595458E67B1}"/>
              </a:ext>
            </a:extLst>
          </p:cNvPr>
          <p:cNvSpPr txBox="1"/>
          <p:nvPr/>
        </p:nvSpPr>
        <p:spPr>
          <a:xfrm>
            <a:off x="3734501" y="4070134"/>
            <a:ext cx="7940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Ajout d’assertion (visibilité, texte, valeur, capture d’écran)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6506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3445-3322-5094-BB29-CE1DF810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2DC05B2D-FFC2-37E4-CCC2-3CD13A3CDE76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rgbClr val="3B518E"/>
                </a:solidFill>
              </a:rPr>
              <a:t>Codegen</a:t>
            </a:r>
            <a:endParaRPr lang="fr-FR" dirty="0">
              <a:solidFill>
                <a:srgbClr val="3B518E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E38DF5E-F686-CD12-E9B9-6C21473D031D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936CED7-EA60-4464-4731-215D3BADF69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E605B592-C484-921D-4129-54E7F7BDFAA6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3FA6720-69EF-6700-FD5F-182D1B655057}"/>
              </a:ext>
            </a:extLst>
          </p:cNvPr>
          <p:cNvSpPr txBox="1"/>
          <p:nvPr/>
        </p:nvSpPr>
        <p:spPr>
          <a:xfrm>
            <a:off x="2304647" y="1277755"/>
            <a:ext cx="930233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 err="1"/>
              <a:t>npx</a:t>
            </a:r>
            <a:r>
              <a:rPr lang="fr-FR" sz="3200" b="1" dirty="0"/>
              <a:t> </a:t>
            </a:r>
            <a:r>
              <a:rPr lang="fr-FR" sz="3200" b="1" dirty="0" err="1"/>
              <a:t>playwright</a:t>
            </a:r>
            <a:r>
              <a:rPr lang="fr-FR" sz="3200" b="1" dirty="0"/>
              <a:t> </a:t>
            </a:r>
            <a:r>
              <a:rPr lang="fr-FR" sz="3200" b="1" dirty="0" err="1"/>
              <a:t>codegen</a:t>
            </a:r>
            <a:r>
              <a:rPr lang="fr-FR" sz="3200" b="1" dirty="0"/>
              <a:t> </a:t>
            </a:r>
            <a:r>
              <a:rPr lang="fr-FR" sz="3200" b="1" dirty="0">
                <a:hlinkClick r:id="rId4"/>
              </a:rPr>
              <a:t>https://demo.guru99.com</a:t>
            </a:r>
            <a:endParaRPr lang="fr-FR" sz="3200" b="1" dirty="0"/>
          </a:p>
          <a:p>
            <a:endParaRPr lang="fr-FR" sz="3200" b="1" dirty="0"/>
          </a:p>
          <a:p>
            <a:r>
              <a:rPr lang="fr-FR" sz="2400" dirty="0"/>
              <a:t>Ouvre une fenêtre qui permet de contrôler les lignes ajoutées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FFD62F6-860A-F0C2-9280-818BC2176D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71" t="-2414" r="-1371" b="65451"/>
          <a:stretch>
            <a:fillRect/>
          </a:stretch>
        </p:blipFill>
        <p:spPr>
          <a:xfrm>
            <a:off x="3581559" y="2791885"/>
            <a:ext cx="7668152" cy="269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5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F86D-9A16-1F6A-9E5C-4E3957B2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9F86321-AE3D-29E9-DBA5-DF815FC417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F4074A7-C20A-5AD1-2892-636C04B0F373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3CB82F6-393E-48FC-A7A2-D09D5A852F38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D1CB7676-B5CC-7813-4701-427D15E4D0D9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3B52428E-EE9D-3D71-72E4-DEDA99ACE399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E4803989-2536-4E42-B98B-F33DA069DD99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76A1FEEB-2EB0-8BC6-C0F2-852A67D48737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7A38F9D5-98B9-B5F4-5B4B-F1E4A2B8075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1AA5ABBB-148D-083A-348D-55AB71D17965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5FA87B6D-506A-C782-2380-29AE4C380D24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Enregistrement d’un test</a:t>
            </a:r>
          </a:p>
        </p:txBody>
      </p:sp>
    </p:spTree>
    <p:extLst>
      <p:ext uri="{BB962C8B-B14F-4D97-AF65-F5344CB8AC3E}">
        <p14:creationId xmlns:p14="http://schemas.microsoft.com/office/powerpoint/2010/main" val="102465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571B-940E-91E1-D4BA-A59BE081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B88313-4304-A0B9-C7DA-B3375228E7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D108EE8-430E-E985-D001-DDACADCC8B9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34143916-E62D-D81A-071B-BA49D46D5713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BC4A2A53-BFA3-1A65-5485-527F05C09123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 err="1"/>
              <a:t>Debug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73600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9">
            <a:extLst>
              <a:ext uri="{FF2B5EF4-FFF2-40B4-BE49-F238E27FC236}">
                <a16:creationId xmlns:a16="http://schemas.microsoft.com/office/drawing/2014/main" id="{68BDBD5C-A5F7-A8DF-2423-CF78F5069866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Lancement du mode </a:t>
            </a:r>
            <a:r>
              <a:rPr lang="fr-FR" dirty="0" err="1">
                <a:solidFill>
                  <a:srgbClr val="3B518E"/>
                </a:solidFill>
              </a:rPr>
              <a:t>Debug</a:t>
            </a:r>
            <a:endParaRPr lang="fr-FR" dirty="0">
              <a:solidFill>
                <a:srgbClr val="3B518E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3D314BA-0AE8-3810-5517-6E36FECB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4" b="20191"/>
          <a:stretch>
            <a:fillRect/>
          </a:stretch>
        </p:blipFill>
        <p:spPr>
          <a:xfrm>
            <a:off x="6030573" y="142325"/>
            <a:ext cx="3188271" cy="1959350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81723707-7559-C69F-E798-2AF08D8AF57E}"/>
              </a:ext>
            </a:extLst>
          </p:cNvPr>
          <p:cNvSpPr/>
          <p:nvPr/>
        </p:nvSpPr>
        <p:spPr>
          <a:xfrm>
            <a:off x="8482245" y="1289203"/>
            <a:ext cx="455278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C39799F-A079-9527-ECED-2D785D3EA9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598"/>
          <a:stretch>
            <a:fillRect/>
          </a:stretch>
        </p:blipFill>
        <p:spPr>
          <a:xfrm>
            <a:off x="3793553" y="2849105"/>
            <a:ext cx="5191850" cy="2261116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F4D5A34F-F61F-ED8D-79D7-77E62FDCE614}"/>
              </a:ext>
            </a:extLst>
          </p:cNvPr>
          <p:cNvSpPr/>
          <p:nvPr/>
        </p:nvSpPr>
        <p:spPr>
          <a:xfrm>
            <a:off x="3999279" y="3340532"/>
            <a:ext cx="1342104" cy="42037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048A061-2392-1CAD-393A-9C8865FFC203}"/>
              </a:ext>
            </a:extLst>
          </p:cNvPr>
          <p:cNvSpPr txBox="1"/>
          <p:nvPr/>
        </p:nvSpPr>
        <p:spPr>
          <a:xfrm>
            <a:off x="2973156" y="209794"/>
            <a:ext cx="754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1 - Depuis l’onglet </a:t>
            </a:r>
            <a:r>
              <a:rPr lang="fr-FR" sz="1800" dirty="0" err="1"/>
              <a:t>testing</a:t>
            </a:r>
            <a:r>
              <a:rPr lang="fr-FR" sz="1800" dirty="0"/>
              <a:t> : 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3D30FF-8E06-6D2B-B7F6-694E6FA1E3A9}"/>
              </a:ext>
            </a:extLst>
          </p:cNvPr>
          <p:cNvSpPr txBox="1"/>
          <p:nvPr/>
        </p:nvSpPr>
        <p:spPr>
          <a:xfrm>
            <a:off x="4880614" y="5900679"/>
            <a:ext cx="3250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npx</a:t>
            </a:r>
            <a:r>
              <a:rPr lang="fr-FR" b="1" dirty="0"/>
              <a:t> </a:t>
            </a:r>
            <a:r>
              <a:rPr lang="fr-FR" b="1" dirty="0" err="1"/>
              <a:t>playwright</a:t>
            </a:r>
            <a:r>
              <a:rPr lang="fr-FR" b="1" dirty="0"/>
              <a:t> test --</a:t>
            </a:r>
            <a:r>
              <a:rPr lang="fr-FR" b="1" dirty="0" err="1"/>
              <a:t>debug</a:t>
            </a:r>
            <a:endParaRPr lang="fr-FR" b="1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8071B29-54DF-AE91-4641-6749F9793947}"/>
              </a:ext>
            </a:extLst>
          </p:cNvPr>
          <p:cNvSpPr txBox="1"/>
          <p:nvPr/>
        </p:nvSpPr>
        <p:spPr>
          <a:xfrm>
            <a:off x="2973156" y="2304125"/>
            <a:ext cx="4476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</a:t>
            </a:r>
            <a:r>
              <a:rPr lang="fr-FR" sz="1800" dirty="0"/>
              <a:t> - Depuis le test (click droit sur la flèche) : 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5C4572D-A7BF-8F74-FB57-066ADD858BCC}"/>
              </a:ext>
            </a:extLst>
          </p:cNvPr>
          <p:cNvSpPr txBox="1"/>
          <p:nvPr/>
        </p:nvSpPr>
        <p:spPr>
          <a:xfrm>
            <a:off x="2973156" y="5505450"/>
            <a:ext cx="4476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3</a:t>
            </a:r>
            <a:r>
              <a:rPr lang="fr-FR" sz="1800" dirty="0"/>
              <a:t> - Depuis le terminal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183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4AA1-6C33-4578-D28F-F5AA77620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9">
            <a:extLst>
              <a:ext uri="{FF2B5EF4-FFF2-40B4-BE49-F238E27FC236}">
                <a16:creationId xmlns:a16="http://schemas.microsoft.com/office/drawing/2014/main" id="{2779F9FA-FD32-C576-CDA4-78038C8418DF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Mode </a:t>
            </a:r>
            <a:r>
              <a:rPr lang="fr-FR" dirty="0" err="1">
                <a:solidFill>
                  <a:srgbClr val="3B518E"/>
                </a:solidFill>
              </a:rPr>
              <a:t>Debug</a:t>
            </a:r>
            <a:endParaRPr lang="fr-FR" dirty="0">
              <a:solidFill>
                <a:srgbClr val="3B518E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132B756-8A50-9D07-2833-0F4AF1862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695" b="22633"/>
          <a:stretch>
            <a:fillRect/>
          </a:stretch>
        </p:blipFill>
        <p:spPr>
          <a:xfrm>
            <a:off x="4214766" y="572843"/>
            <a:ext cx="7741260" cy="2137358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4DEE7B79-57B0-3964-8BF7-FD95460C7F35}"/>
              </a:ext>
            </a:extLst>
          </p:cNvPr>
          <p:cNvSpPr/>
          <p:nvPr/>
        </p:nvSpPr>
        <p:spPr>
          <a:xfrm>
            <a:off x="4039595" y="1376051"/>
            <a:ext cx="560439" cy="5309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033B586-F8C0-6BC1-DAEF-BECEB9507A4C}"/>
              </a:ext>
            </a:extLst>
          </p:cNvPr>
          <p:cNvSpPr txBox="1"/>
          <p:nvPr/>
        </p:nvSpPr>
        <p:spPr>
          <a:xfrm>
            <a:off x="2723007" y="927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Ajout de </a:t>
            </a:r>
            <a:r>
              <a:rPr lang="fr-FR" b="1" dirty="0" err="1"/>
              <a:t>breakpoint</a:t>
            </a:r>
            <a:r>
              <a:rPr lang="fr-FR" b="1" dirty="0"/>
              <a:t> en cliquant à droite de la ligne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18DACCC-14AC-D6C8-9119-1EF6824D3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60"/>
          <a:stretch>
            <a:fillRect/>
          </a:stretch>
        </p:blipFill>
        <p:spPr>
          <a:xfrm>
            <a:off x="5771007" y="2939111"/>
            <a:ext cx="3707289" cy="48247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53E3A6C-6CD1-0109-EABC-573DD561D831}"/>
              </a:ext>
            </a:extLst>
          </p:cNvPr>
          <p:cNvSpPr txBox="1"/>
          <p:nvPr/>
        </p:nvSpPr>
        <p:spPr>
          <a:xfrm>
            <a:off x="2723007" y="2976372"/>
            <a:ext cx="3137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Commande du mode </a:t>
            </a:r>
            <a:r>
              <a:rPr lang="fr-FR" b="1" dirty="0" err="1"/>
              <a:t>debug</a:t>
            </a:r>
            <a:r>
              <a:rPr lang="fr-FR" b="1" dirty="0"/>
              <a:t> :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253E475-9687-70FB-B0A0-A3A3E81338AD}"/>
              </a:ext>
            </a:extLst>
          </p:cNvPr>
          <p:cNvSpPr txBox="1"/>
          <p:nvPr/>
        </p:nvSpPr>
        <p:spPr>
          <a:xfrm>
            <a:off x="5126499" y="3650494"/>
            <a:ext cx="79400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Continue le test jusqu’à la fin ou jusqu’au prochain point d’arrêt</a:t>
            </a:r>
          </a:p>
          <a:p>
            <a:endParaRPr lang="fr-FR" b="1" dirty="0"/>
          </a:p>
          <a:p>
            <a:r>
              <a:rPr lang="fr-FR" b="1" dirty="0"/>
              <a:t>Avancer ligne par ligne</a:t>
            </a:r>
          </a:p>
          <a:p>
            <a:endParaRPr lang="fr-FR" b="1" dirty="0"/>
          </a:p>
          <a:p>
            <a:r>
              <a:rPr lang="fr-FR" b="1" dirty="0"/>
              <a:t>Entrer dans une fonction</a:t>
            </a:r>
          </a:p>
          <a:p>
            <a:endParaRPr lang="fr-FR" b="1" dirty="0"/>
          </a:p>
          <a:p>
            <a:r>
              <a:rPr lang="fr-FR" b="1" dirty="0"/>
              <a:t>Sortir d’une fonction</a:t>
            </a:r>
          </a:p>
          <a:p>
            <a:endParaRPr lang="fr-FR" b="1" dirty="0"/>
          </a:p>
          <a:p>
            <a:r>
              <a:rPr lang="fr-FR" b="1" dirty="0"/>
              <a:t>Rejouer le test</a:t>
            </a:r>
          </a:p>
          <a:p>
            <a:endParaRPr lang="fr-FR" b="1" dirty="0"/>
          </a:p>
          <a:p>
            <a:r>
              <a:rPr lang="fr-FR" b="1" dirty="0"/>
              <a:t>Arrêter le test</a:t>
            </a:r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37170E12-8F0C-CF48-EF19-7C2BBD071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034" y="3565444"/>
            <a:ext cx="457640" cy="323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E92C-49ED-E69C-CA14-F46FC746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CFA2D392-3E5A-64AD-4588-6A314413473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79796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rgbClr val="3B518E"/>
                </a:solidFill>
              </a:rPr>
              <a:t>Playwright</a:t>
            </a:r>
            <a:r>
              <a:rPr lang="fr-FR" dirty="0">
                <a:solidFill>
                  <a:srgbClr val="3B518E"/>
                </a:solidFill>
              </a:rPr>
              <a:t> 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C9F1B79-18B0-53F8-FCC6-B76EA5A9281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7437058-E893-C1C9-43DB-90E86DB5C31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53F92F85-6BE3-77CA-6942-2432A318C6C4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88FC8F-4BD7-2502-91D4-D5562B3A48C7}"/>
              </a:ext>
            </a:extLst>
          </p:cNvPr>
          <p:cNvSpPr txBox="1"/>
          <p:nvPr/>
        </p:nvSpPr>
        <p:spPr>
          <a:xfrm>
            <a:off x="2891135" y="971549"/>
            <a:ext cx="74582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Playwright</a:t>
            </a:r>
            <a:r>
              <a:rPr lang="fr-FR" sz="2400" dirty="0"/>
              <a:t> UI est une interface graphique qui permet d'exécuter, d'inspecter et de déboguer les tests </a:t>
            </a:r>
            <a:r>
              <a:rPr lang="fr-FR" sz="2400" dirty="0" err="1"/>
              <a:t>Playwright</a:t>
            </a:r>
            <a:r>
              <a:rPr lang="fr-FR" sz="2400" dirty="0"/>
              <a:t> de manière interactive.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347230D-752C-8770-5A9D-E5D93CBA3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191" y="2185600"/>
            <a:ext cx="7040796" cy="437586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DD3EB20-E075-EB9E-E5E9-F912376250FC}"/>
              </a:ext>
            </a:extLst>
          </p:cNvPr>
          <p:cNvSpPr txBox="1"/>
          <p:nvPr/>
        </p:nvSpPr>
        <p:spPr>
          <a:xfrm>
            <a:off x="8985400" y="3591692"/>
            <a:ext cx="285241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Utilité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Voir les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Explorer les étapes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Voir des captures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Rejouer un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Voir les erreurs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Ouvrir les traces</a:t>
            </a:r>
          </a:p>
        </p:txBody>
      </p:sp>
    </p:spTree>
    <p:extLst>
      <p:ext uri="{BB962C8B-B14F-4D97-AF65-F5344CB8AC3E}">
        <p14:creationId xmlns:p14="http://schemas.microsoft.com/office/powerpoint/2010/main" val="354407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A376-B849-34DE-2BE4-0484DD74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BB5E195F-66E1-04B8-EC17-96E553B667B6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79796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rgbClr val="3B518E"/>
                </a:solidFill>
              </a:rPr>
              <a:t>Playwright</a:t>
            </a:r>
            <a:r>
              <a:rPr lang="fr-FR" dirty="0">
                <a:solidFill>
                  <a:srgbClr val="3B518E"/>
                </a:solidFill>
              </a:rPr>
              <a:t> 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0F2942-091C-7B60-0C69-71A2E1AE1159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8B3F14-16CC-07C9-570C-A6A9B522203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6C33A4A-BF39-DD0D-8F11-62319C61A483}"/>
              </a:ext>
            </a:extLst>
          </p:cNvPr>
          <p:cNvSpPr txBox="1"/>
          <p:nvPr/>
        </p:nvSpPr>
        <p:spPr>
          <a:xfrm>
            <a:off x="2835306" y="1416201"/>
            <a:ext cx="7888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1 - Lancement depuis le terminal :	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C482AC-F5ED-2DA1-2461-2ED345E60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367" y="3145492"/>
            <a:ext cx="3562847" cy="142894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87C82CF-E33B-0A7F-5883-7F2DEE3FE27A}"/>
              </a:ext>
            </a:extLst>
          </p:cNvPr>
          <p:cNvSpPr txBox="1"/>
          <p:nvPr/>
        </p:nvSpPr>
        <p:spPr>
          <a:xfrm>
            <a:off x="5063276" y="19591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npx</a:t>
            </a:r>
            <a:r>
              <a:rPr lang="fr-FR" sz="2400" b="1" dirty="0"/>
              <a:t> </a:t>
            </a:r>
            <a:r>
              <a:rPr lang="fr-FR" sz="2400" b="1" dirty="0" err="1"/>
              <a:t>playwright</a:t>
            </a:r>
            <a:r>
              <a:rPr lang="fr-FR" sz="2400" b="1" dirty="0"/>
              <a:t> test --</a:t>
            </a:r>
            <a:r>
              <a:rPr lang="fr-FR" sz="2400" b="1" dirty="0" err="1"/>
              <a:t>ui</a:t>
            </a:r>
            <a:endParaRPr lang="fr-FR" sz="2400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35A566-5AD7-A2E4-3A80-66C19DA0FA98}"/>
              </a:ext>
            </a:extLst>
          </p:cNvPr>
          <p:cNvSpPr txBox="1"/>
          <p:nvPr/>
        </p:nvSpPr>
        <p:spPr>
          <a:xfrm>
            <a:off x="2835306" y="2538405"/>
            <a:ext cx="7888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2 - Lancement automatique (Depuis l’onglet </a:t>
            </a:r>
            <a:r>
              <a:rPr lang="fr-FR" sz="2400" dirty="0" err="1"/>
              <a:t>testing</a:t>
            </a:r>
            <a:r>
              <a:rPr lang="fr-FR" sz="2400" dirty="0"/>
              <a:t>) :	</a:t>
            </a:r>
          </a:p>
        </p:txBody>
      </p:sp>
    </p:spTree>
    <p:extLst>
      <p:ext uri="{BB962C8B-B14F-4D97-AF65-F5344CB8AC3E}">
        <p14:creationId xmlns:p14="http://schemas.microsoft.com/office/powerpoint/2010/main" val="213549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7722D-EBCB-A9F6-0244-7119AAD5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867C4A-F6DB-B1C8-9098-AD13BF50EE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5BDEBC-C228-A8AF-8B61-A8808D640151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EEB0371-37C8-A686-FB64-67ED735E6E2B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2FC3FF6C-2040-8EAF-0B21-D38973493468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5F7AB9A4-55A4-FCFA-5C13-D6DB1CB5B439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FA9FBBE8-05B4-22A6-F237-37E3FACD3B4B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C73845A6-D19B-EA19-1CE6-D3E47899A214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F8021F17-0D18-F444-6E6B-1C61A84B2F1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2D052511-30DC-7F50-0062-E67CC85ADB6A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9EFE3CE5-BFC9-B7E5-BD35-C27F86415EF0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Debug</a:t>
            </a:r>
            <a:endParaRPr lang="fr-FR" sz="44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11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AA72B-2E9E-A4E2-2021-7A35442F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29AB08-F55D-A037-B7DE-76EEB1D61326}"/>
              </a:ext>
            </a:extLst>
          </p:cNvPr>
          <p:cNvSpPr/>
          <p:nvPr/>
        </p:nvSpPr>
        <p:spPr>
          <a:xfrm>
            <a:off x="-1" y="-11936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1FB81EC-0CA1-8D5F-DE58-FBB25A8CBC0F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TRAVAUX PRATIQUES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450CF938-CCC2-8B0F-B565-9CDA43B481C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9E19F117-854B-FBE5-1E98-603E5AEEBC1F}"/>
              </a:ext>
            </a:extLst>
          </p:cNvPr>
          <p:cNvGrpSpPr/>
          <p:nvPr/>
        </p:nvGrpSpPr>
        <p:grpSpPr>
          <a:xfrm>
            <a:off x="-1" y="0"/>
            <a:ext cx="3667688" cy="6858001"/>
            <a:chOff x="-1" y="0"/>
            <a:chExt cx="4292084" cy="6858001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423CA2DC-C698-B27D-0F05-A84C4D33CFC2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95B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Triangle rectangle 10">
              <a:extLst>
                <a:ext uri="{FF2B5EF4-FFF2-40B4-BE49-F238E27FC236}">
                  <a16:creationId xmlns:a16="http://schemas.microsoft.com/office/drawing/2014/main" id="{27137254-B907-5AD2-1CEE-F47BE2BE524C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Triangle rectangle 11">
              <a:extLst>
                <a:ext uri="{FF2B5EF4-FFF2-40B4-BE49-F238E27FC236}">
                  <a16:creationId xmlns:a16="http://schemas.microsoft.com/office/drawing/2014/main" id="{1D3DC284-4099-A244-20FE-956A5BAD68A0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3693E9AC-75A8-4304-8ADC-FE85459CEAF8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TRAVAUX PRATIQUES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72F63F80-0175-2E95-941B-C42F0A9CA627}"/>
              </a:ext>
            </a:extLst>
          </p:cNvPr>
          <p:cNvSpPr txBox="1">
            <a:spLocks/>
          </p:cNvSpPr>
          <p:nvPr/>
        </p:nvSpPr>
        <p:spPr>
          <a:xfrm>
            <a:off x="4021872" y="2699281"/>
            <a:ext cx="781594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TP Guru 99</a:t>
            </a:r>
          </a:p>
        </p:txBody>
      </p:sp>
    </p:spTree>
    <p:extLst>
      <p:ext uri="{BB962C8B-B14F-4D97-AF65-F5344CB8AC3E}">
        <p14:creationId xmlns:p14="http://schemas.microsoft.com/office/powerpoint/2010/main" val="227387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7E13-D8CD-2B69-B8CF-0145FB57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408B7E7-58FE-B712-3CF7-1C75E9FDF4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A5142A0-ADD1-31FC-EACF-3AE3F4224A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7780"/>
          <a:stretch/>
        </p:blipFill>
        <p:spPr>
          <a:xfrm>
            <a:off x="1" y="0"/>
            <a:ext cx="3470988" cy="6858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2BA73C4D-19B1-3F84-B213-D12647216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1E8E26A-0925-3CCA-9152-513A16DBAF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3470987" cy="3470987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BBA31C0D-E671-E5F7-F93E-8E3297E7F83A}"/>
              </a:ext>
            </a:extLst>
          </p:cNvPr>
          <p:cNvSpPr txBox="1">
            <a:spLocks/>
          </p:cNvSpPr>
          <p:nvPr/>
        </p:nvSpPr>
        <p:spPr>
          <a:xfrm>
            <a:off x="3470989" y="3318644"/>
            <a:ext cx="8644932" cy="206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Playwright</a:t>
            </a:r>
            <a:br>
              <a:rPr lang="fr-FR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fr-FR" dirty="0">
                <a:solidFill>
                  <a:srgbClr val="AAD23B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M02 - Écriture des tests </a:t>
            </a:r>
            <a:r>
              <a:rPr lang="fr-FR" dirty="0" err="1">
                <a:solidFill>
                  <a:srgbClr val="AAD23B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Playwright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884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4A9A-EA6C-7331-C234-44E0345E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3162FF-4FE5-73D1-CF8B-2E210FCC2805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F05A7A51-46A5-EB5F-AD85-38D924A1200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59218D32-3020-FA29-F660-730B99401379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6E5C8FD1-57A0-22A6-1EEB-788EDA1F5D79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 err="1"/>
              <a:t>Await</a:t>
            </a:r>
            <a:r>
              <a:rPr lang="fr-FR" sz="4400" dirty="0"/>
              <a:t> : Auto </a:t>
            </a:r>
            <a:r>
              <a:rPr lang="fr-FR" sz="4400" dirty="0" err="1"/>
              <a:t>wait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91529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CE2E-6D7B-9BC0-B2A7-33233996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5C91FEAA-9A26-FC06-E1B8-680B2764FD60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Problématique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4B04C5D-8432-B342-51B8-4C64777CA8CC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Await</a:t>
            </a:r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BDDFDD7-331A-1D19-855D-DCFA46C8361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07AFE6AB-9F67-8869-DABF-F7E15557148D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260D66-13F1-6C39-1EC6-0F91D3E51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64E58B1-DC31-E635-F195-8226ADB89D1A}"/>
              </a:ext>
            </a:extLst>
          </p:cNvPr>
          <p:cNvSpPr txBox="1"/>
          <p:nvPr/>
        </p:nvSpPr>
        <p:spPr>
          <a:xfrm>
            <a:off x="2882098" y="1577085"/>
            <a:ext cx="8518966" cy="398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Lorsque le programme </a:t>
            </a:r>
            <a:r>
              <a:rPr lang="fr-FR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effectue</a:t>
            </a:r>
            <a:r>
              <a:rPr lang="fr-F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actions sur un site web</a:t>
            </a:r>
            <a:r>
              <a:rPr lang="fr-F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cliquer, remplir un champ, attendre un chargement, etc…  ces actions ne sont </a:t>
            </a:r>
            <a:r>
              <a:rPr lang="fr-F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 instantanées</a:t>
            </a:r>
            <a:r>
              <a:rPr lang="fr-F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FR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 exemple 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Charger une page peut prendre 2 secondes.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Cliquer sur un bouton peut déclencher une attente.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Ces actions prennent du temps à s'exécuter.</a:t>
            </a:r>
          </a:p>
        </p:txBody>
      </p:sp>
    </p:spTree>
    <p:extLst>
      <p:ext uri="{BB962C8B-B14F-4D97-AF65-F5344CB8AC3E}">
        <p14:creationId xmlns:p14="http://schemas.microsoft.com/office/powerpoint/2010/main" val="246598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4DA0-1092-620C-054B-526BB62E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082353D-EB9D-4ACF-1F07-F264A57DBD8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rgbClr val="3B518E"/>
                </a:solidFill>
              </a:rPr>
              <a:t>Await</a:t>
            </a:r>
            <a:endParaRPr lang="fr-FR" dirty="0">
              <a:solidFill>
                <a:srgbClr val="3B518E"/>
              </a:solidFill>
            </a:endParaRPr>
          </a:p>
          <a:p>
            <a:endParaRPr lang="fr-FR" dirty="0">
              <a:solidFill>
                <a:srgbClr val="3B518E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917C35D-161D-BFC5-B12E-C43B2BEBD93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Await</a:t>
            </a:r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D56A57A5-59B4-4721-D24B-897FAADCDB3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88AEE7D2-68C0-C3BD-510F-3BF37AFE9A90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4FCDABC-C60F-3B7B-04D5-2BE76A3C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F6FD889-4CE0-AC50-05D4-4619862A057B}"/>
              </a:ext>
            </a:extLst>
          </p:cNvPr>
          <p:cNvSpPr txBox="1"/>
          <p:nvPr/>
        </p:nvSpPr>
        <p:spPr>
          <a:xfrm>
            <a:off x="2313948" y="1220994"/>
            <a:ext cx="85189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Le mot-clé </a:t>
            </a:r>
            <a:r>
              <a:rPr lang="fr-FR" sz="2800" b="1" dirty="0" err="1"/>
              <a:t>await</a:t>
            </a:r>
            <a:r>
              <a:rPr lang="fr-FR" sz="2800" dirty="0"/>
              <a:t> permet d’attendre qu’une action soit complètement terminée avant de passer à la suivante.</a:t>
            </a:r>
            <a:br>
              <a:rPr lang="fr-FR" sz="2800" dirty="0"/>
            </a:br>
            <a:r>
              <a:rPr lang="fr-FR" sz="2800" dirty="0"/>
              <a:t>Cela évite les problèmes de synchronisation et rend les tests plus fiables dans </a:t>
            </a:r>
            <a:r>
              <a:rPr lang="fr-FR" sz="2800" dirty="0" err="1"/>
              <a:t>Playwright</a:t>
            </a:r>
            <a:r>
              <a:rPr lang="fr-FR" sz="2800" dirty="0"/>
              <a:t>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D04C05-6ACA-44CF-C306-A8F428F68480}"/>
              </a:ext>
            </a:extLst>
          </p:cNvPr>
          <p:cNvSpPr txBox="1"/>
          <p:nvPr/>
        </p:nvSpPr>
        <p:spPr>
          <a:xfrm>
            <a:off x="3318849" y="3429000"/>
            <a:ext cx="851896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EBA1EBB-FD26-438A-9354-95EAFD77C9B0}"/>
              </a:ext>
            </a:extLst>
          </p:cNvPr>
          <p:cNvSpPr txBox="1"/>
          <p:nvPr/>
        </p:nvSpPr>
        <p:spPr>
          <a:xfrm>
            <a:off x="3075243" y="3403829"/>
            <a:ext cx="8762571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'https://playwright.dev/’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expect(page).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toHaveTitle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/Playwright/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59816C-C3BC-86A4-0F67-C6E43DA5D547}"/>
              </a:ext>
            </a:extLst>
          </p:cNvPr>
          <p:cNvSpPr txBox="1"/>
          <p:nvPr/>
        </p:nvSpPr>
        <p:spPr>
          <a:xfrm>
            <a:off x="2429695" y="4232286"/>
            <a:ext cx="8518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On attend que la page se charge avant de tester le titre.</a:t>
            </a:r>
          </a:p>
        </p:txBody>
      </p:sp>
    </p:spTree>
    <p:extLst>
      <p:ext uri="{BB962C8B-B14F-4D97-AF65-F5344CB8AC3E}">
        <p14:creationId xmlns:p14="http://schemas.microsoft.com/office/powerpoint/2010/main" val="235914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8A80-A99A-A2A1-D573-D08473A0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BFB0DB-4E90-8218-0514-6CED67F287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ED1C41A-7AD3-5D08-892A-79E35C33946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F10CD0E4-2BAC-07B0-5ACE-E2B0C9494482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8DC83A83-D152-18E4-F245-1BE2F7ACAAD0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Les commandes</a:t>
            </a:r>
          </a:p>
        </p:txBody>
      </p:sp>
    </p:spTree>
    <p:extLst>
      <p:ext uri="{BB962C8B-B14F-4D97-AF65-F5344CB8AC3E}">
        <p14:creationId xmlns:p14="http://schemas.microsoft.com/office/powerpoint/2010/main" val="123321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B060-BFA6-ADAC-49AD-CA8EA1DB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8BFE6970-B9C2-8E1C-2784-E75A8CACD985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Récupération d’un élément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E7995C5-A01E-9C24-912F-C1F79A911B54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commandes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B01A26D6-D859-BB6D-C6B8-3724D850E21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E06BBD91-E78C-0C57-C4FD-4B0B50853E42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DC74AF1-8C5A-E390-0B65-BAE0ECF8905E}"/>
              </a:ext>
            </a:extLst>
          </p:cNvPr>
          <p:cNvSpPr txBox="1"/>
          <p:nvPr/>
        </p:nvSpPr>
        <p:spPr>
          <a:xfrm>
            <a:off x="2958472" y="787636"/>
            <a:ext cx="863121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Récupérer un élément par ID</a:t>
            </a:r>
          </a:p>
          <a:p>
            <a:r>
              <a:rPr lang="fr-FR" sz="2000" dirty="0"/>
              <a:t>	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page.locator</a:t>
            </a:r>
            <a:r>
              <a:rPr lang="fr-FR" sz="2000" dirty="0"/>
              <a:t>('#id’);</a:t>
            </a:r>
          </a:p>
          <a:p>
            <a:endParaRPr lang="fr-FR" sz="2000" b="1" dirty="0"/>
          </a:p>
          <a:p>
            <a:r>
              <a:rPr lang="fr-FR" sz="2000" b="1" dirty="0"/>
              <a:t>Récupérer un élément par classe</a:t>
            </a:r>
          </a:p>
          <a:p>
            <a:r>
              <a:rPr lang="fr-FR" sz="2000" dirty="0"/>
              <a:t>	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page.locator</a:t>
            </a:r>
            <a:r>
              <a:rPr lang="fr-FR" sz="2000" dirty="0"/>
              <a:t>('.class’) ;</a:t>
            </a:r>
          </a:p>
          <a:p>
            <a:endParaRPr lang="fr-FR" sz="2000" dirty="0"/>
          </a:p>
          <a:p>
            <a:r>
              <a:rPr lang="fr-FR" sz="2000" b="1" dirty="0"/>
              <a:t>Récupérer un élément par son attribut </a:t>
            </a:r>
            <a:r>
              <a:rPr lang="fr-FR" sz="2000" b="1" dirty="0" err="1"/>
              <a:t>name</a:t>
            </a:r>
            <a:endParaRPr lang="fr-FR" sz="2000" b="1" dirty="0"/>
          </a:p>
          <a:p>
            <a:r>
              <a:rPr lang="fr-FR" sz="2000" dirty="0"/>
              <a:t>	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page.locator</a:t>
            </a:r>
            <a:r>
              <a:rPr lang="fr-FR" sz="2000" dirty="0"/>
              <a:t>('[</a:t>
            </a:r>
            <a:r>
              <a:rPr lang="fr-FR" sz="2000" dirty="0" err="1"/>
              <a:t>name</a:t>
            </a:r>
            <a:r>
              <a:rPr lang="fr-FR" sz="2000" dirty="0"/>
              <a:t>="</a:t>
            </a:r>
            <a:r>
              <a:rPr lang="fr-FR" sz="2000" dirty="0" err="1"/>
              <a:t>elementName</a:t>
            </a:r>
            <a:r>
              <a:rPr lang="fr-FR" sz="2000" dirty="0"/>
              <a:t>"]’);</a:t>
            </a:r>
          </a:p>
          <a:p>
            <a:endParaRPr lang="fr-FR" sz="2000" dirty="0"/>
          </a:p>
          <a:p>
            <a:r>
              <a:rPr lang="fr-FR" sz="2000" b="1" dirty="0"/>
              <a:t>Récupérer un élément par XPath</a:t>
            </a:r>
          </a:p>
          <a:p>
            <a:r>
              <a:rPr lang="fr-FR" sz="2000" dirty="0"/>
              <a:t>	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page.locator</a:t>
            </a:r>
            <a:r>
              <a:rPr lang="fr-FR" sz="2000" dirty="0"/>
              <a:t>('//</a:t>
            </a:r>
            <a:r>
              <a:rPr lang="fr-FR" sz="2000" dirty="0" err="1"/>
              <a:t>tagname</a:t>
            </a:r>
            <a:r>
              <a:rPr lang="fr-FR" sz="2000" dirty="0"/>
              <a:t>[@attribute="value"]’);</a:t>
            </a:r>
          </a:p>
          <a:p>
            <a:endParaRPr lang="fr-FR" sz="2000" dirty="0"/>
          </a:p>
          <a:p>
            <a:r>
              <a:rPr lang="fr-FR" sz="2000" b="1" dirty="0"/>
              <a:t>Récupérer un élément par sélecteur CSS</a:t>
            </a:r>
          </a:p>
          <a:p>
            <a:r>
              <a:rPr lang="fr-FR" sz="2000" dirty="0"/>
              <a:t>	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page.locator</a:t>
            </a:r>
            <a:r>
              <a:rPr lang="fr-FR" sz="2000" dirty="0"/>
              <a:t>('div &gt; .class’);</a:t>
            </a:r>
          </a:p>
          <a:p>
            <a:endParaRPr lang="fr-FR" sz="2000" b="1" dirty="0"/>
          </a:p>
          <a:p>
            <a:r>
              <a:rPr lang="fr-FR" sz="2000" b="1" dirty="0"/>
              <a:t>Récupérer un élément par texte </a:t>
            </a:r>
          </a:p>
          <a:p>
            <a:r>
              <a:rPr lang="fr-FR" sz="2000" dirty="0"/>
              <a:t>	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page.locator</a:t>
            </a:r>
            <a:r>
              <a:rPr lang="fr-FR" sz="2000" dirty="0"/>
              <a:t>('</a:t>
            </a:r>
            <a:r>
              <a:rPr lang="fr-FR" sz="2000" dirty="0" err="1"/>
              <a:t>text</a:t>
            </a:r>
            <a:r>
              <a:rPr lang="fr-FR" sz="2000" dirty="0"/>
              <a:t>="Mon texte"');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69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C1A25-3384-0930-67E2-A7CC1F46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3B265B27-9AA0-8ECE-7F3C-AFD43A38BFCD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err="1">
                <a:solidFill>
                  <a:srgbClr val="3B518E"/>
                </a:solidFill>
              </a:rPr>
              <a:t>getByRole</a:t>
            </a:r>
            <a:endParaRPr lang="fr-FR">
              <a:solidFill>
                <a:srgbClr val="3B518E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1F43D08-E52A-EE18-A54E-7F75C8ABC119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commandes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D7C0023-FA9E-C8D2-5964-2069570428E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78815A78-FA89-9EB7-610C-B043C63708A2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BC7C06-A8BF-38E1-CA2F-40AFACC18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31A6CC-B656-2339-AE3B-F9C4158C7294}"/>
              </a:ext>
            </a:extLst>
          </p:cNvPr>
          <p:cNvSpPr txBox="1"/>
          <p:nvPr/>
        </p:nvSpPr>
        <p:spPr>
          <a:xfrm>
            <a:off x="2426653" y="1141091"/>
            <a:ext cx="8519160" cy="135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méthode getByRole permet de sélectionner un élément en fonction de son </a:t>
            </a:r>
            <a:r>
              <a:rPr lang="fr-FR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rôle ARIA</a:t>
            </a:r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(Accessible Rich Internet Applications) et d'un </a:t>
            </a:r>
            <a:r>
              <a:rPr lang="fr-FR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 accessible</a:t>
            </a:r>
            <a:r>
              <a:rPr lang="fr-F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Elle est particulièrement utile pour interagir avec des éléments qui ont un rôle bien défini dans l'interface utilisateur.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40BA0C7-E952-2C8F-E0DB-217A1BBDF294}"/>
              </a:ext>
            </a:extLst>
          </p:cNvPr>
          <p:cNvSpPr txBox="1"/>
          <p:nvPr/>
        </p:nvSpPr>
        <p:spPr>
          <a:xfrm>
            <a:off x="2055404" y="2795017"/>
            <a:ext cx="8519160" cy="20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Récupérer un lien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&lt;a&gt;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avec le nom "</a:t>
            </a:r>
            <a:r>
              <a:rPr lang="fr-F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started</a:t>
            </a:r>
            <a:r>
              <a:rPr lang="fr-F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Récupérer un bouton qui dit "Valider":</a:t>
            </a:r>
            <a:r>
              <a:rPr lang="fr-FR" dirty="0"/>
              <a:t>	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A21B7B0-B2B6-48C7-C055-19740AAE4D97}"/>
              </a:ext>
            </a:extLst>
          </p:cNvPr>
          <p:cNvSpPr txBox="1"/>
          <p:nvPr/>
        </p:nvSpPr>
        <p:spPr>
          <a:xfrm>
            <a:off x="2926630" y="3868654"/>
            <a:ext cx="8873151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link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page.getByRole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'link'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 name: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'Get started'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1BC3CC-42AE-B783-8868-EDA0120E1C55}"/>
              </a:ext>
            </a:extLst>
          </p:cNvPr>
          <p:cNvSpPr txBox="1"/>
          <p:nvPr/>
        </p:nvSpPr>
        <p:spPr>
          <a:xfrm>
            <a:off x="2888595" y="5112159"/>
            <a:ext cx="894922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page.getByRole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Valider'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2A0F96B-CE96-9631-17F6-8432872FC6BA}"/>
              </a:ext>
            </a:extLst>
          </p:cNvPr>
          <p:cNvSpPr txBox="1"/>
          <p:nvPr/>
        </p:nvSpPr>
        <p:spPr>
          <a:xfrm>
            <a:off x="8785185" y="4331951"/>
            <a:ext cx="8518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rôle ARIA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8120B70-EF3A-490B-E272-3B03A36056A8}"/>
              </a:ext>
            </a:extLst>
          </p:cNvPr>
          <p:cNvCxnSpPr>
            <a:cxnSpLocks/>
          </p:cNvCxnSpPr>
          <p:nvPr/>
        </p:nvCxnSpPr>
        <p:spPr>
          <a:xfrm flipH="1" flipV="1">
            <a:off x="7743464" y="4121796"/>
            <a:ext cx="1041721" cy="32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848BF50-8CB3-EC53-7F92-08C954E9B1F4}"/>
              </a:ext>
            </a:extLst>
          </p:cNvPr>
          <p:cNvCxnSpPr>
            <a:cxnSpLocks/>
          </p:cNvCxnSpPr>
          <p:nvPr/>
        </p:nvCxnSpPr>
        <p:spPr>
          <a:xfrm flipH="1">
            <a:off x="8183301" y="4642787"/>
            <a:ext cx="601884" cy="380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618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EBBD-25D0-0F3D-A28D-7FF18438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5C1E74FC-B5BA-ECD9-9370-760CD7079A28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Rôle Aria 1/2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257FFAA-AE1E-87E0-A01C-FD2C6F8BE6D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commandes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8013EBAE-7577-DE86-1BA3-C3C72900C09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4C039AA6-3EB7-F6F5-6DBA-45462ED4EF0A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B8C9E8D-2CEF-4AB3-567B-606B24F3D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93282"/>
              </p:ext>
            </p:extLst>
          </p:nvPr>
        </p:nvGraphicFramePr>
        <p:xfrm>
          <a:off x="3206599" y="1066008"/>
          <a:ext cx="7581006" cy="4402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8211">
                  <a:extLst>
                    <a:ext uri="{9D8B030D-6E8A-4147-A177-3AD203B41FA5}">
                      <a16:colId xmlns:a16="http://schemas.microsoft.com/office/drawing/2014/main" val="4182171820"/>
                    </a:ext>
                  </a:extLst>
                </a:gridCol>
                <a:gridCol w="3842795">
                  <a:extLst>
                    <a:ext uri="{9D8B030D-6E8A-4147-A177-3AD203B41FA5}">
                      <a16:colId xmlns:a16="http://schemas.microsoft.com/office/drawing/2014/main" val="1547242099"/>
                    </a:ext>
                  </a:extLst>
                </a:gridCol>
              </a:tblGrid>
              <a:tr h="535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Balise HTML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Rôle ARIA implicite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4249349408"/>
                  </a:ext>
                </a:extLst>
              </a:tr>
              <a:tr h="535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 dirty="0">
                          <a:effectLst/>
                        </a:rPr>
                        <a:t>&lt;a&gt;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role="link"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1527883324"/>
                  </a:ext>
                </a:extLst>
              </a:tr>
              <a:tr h="535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&lt;button&gt;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role="button"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1143967857"/>
                  </a:ext>
                </a:extLst>
              </a:tr>
              <a:tr h="592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&lt;input type="</a:t>
                      </a:r>
                      <a:r>
                        <a:rPr lang="fr-FR" sz="2400" kern="0" err="1">
                          <a:effectLst/>
                        </a:rPr>
                        <a:t>checkbox</a:t>
                      </a:r>
                      <a:r>
                        <a:rPr lang="fr-FR" sz="2400" kern="0">
                          <a:effectLst/>
                        </a:rPr>
                        <a:t>"&gt;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role="checkbox"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1994182350"/>
                  </a:ext>
                </a:extLst>
              </a:tr>
              <a:tr h="5824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&lt;input type="radio"&gt;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role="radio"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1451801857"/>
                  </a:ext>
                </a:extLst>
              </a:tr>
              <a:tr h="5518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&lt;input type="text"&gt;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 dirty="0" err="1">
                          <a:effectLst/>
                        </a:rPr>
                        <a:t>role</a:t>
                      </a:r>
                      <a:r>
                        <a:rPr lang="fr-FR" sz="2400" kern="0" dirty="0">
                          <a:effectLst/>
                        </a:rPr>
                        <a:t>="</a:t>
                      </a:r>
                      <a:r>
                        <a:rPr lang="fr-FR" sz="2400" kern="0" dirty="0" err="1">
                          <a:effectLst/>
                        </a:rPr>
                        <a:t>textbox</a:t>
                      </a:r>
                      <a:r>
                        <a:rPr lang="fr-FR" sz="2400" kern="0" dirty="0">
                          <a:effectLst/>
                        </a:rPr>
                        <a:t>"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288381361"/>
                  </a:ext>
                </a:extLst>
              </a:tr>
              <a:tr h="535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&lt;select&gt;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role="combobox"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2789963826"/>
                  </a:ext>
                </a:extLst>
              </a:tr>
              <a:tr h="535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&lt;textarea&gt;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 dirty="0" err="1">
                          <a:effectLst/>
                        </a:rPr>
                        <a:t>role</a:t>
                      </a:r>
                      <a:r>
                        <a:rPr lang="fr-FR" sz="2400" kern="0" dirty="0">
                          <a:effectLst/>
                        </a:rPr>
                        <a:t>="</a:t>
                      </a:r>
                      <a:r>
                        <a:rPr lang="fr-FR" sz="2400" kern="0" dirty="0" err="1">
                          <a:effectLst/>
                        </a:rPr>
                        <a:t>textbox</a:t>
                      </a:r>
                      <a:r>
                        <a:rPr lang="fr-FR" sz="2400" kern="0" dirty="0">
                          <a:effectLst/>
                        </a:rPr>
                        <a:t>"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23768808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2FF04D1-C37A-6CC3-112F-F5614695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61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FD01A-01F8-A729-B76E-06FDB28E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6426060B-141B-1BCA-ECDB-32028B908BF7}"/>
              </a:ext>
            </a:extLst>
          </p:cNvPr>
          <p:cNvSpPr txBox="1">
            <a:spLocks/>
          </p:cNvSpPr>
          <p:nvPr/>
        </p:nvSpPr>
        <p:spPr>
          <a:xfrm>
            <a:off x="354184" y="1005502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Rôle Aria 2/2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CFB844F-BDD8-35C5-040C-F3137BCD616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commandes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6B11FC4-28FC-A398-CC29-046E56FEBC1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8EE6C02E-4A0A-37E0-98CA-CF68D0A9E334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F59E342-A518-C3D7-F2B4-D8562EC4C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14986"/>
              </p:ext>
            </p:extLst>
          </p:nvPr>
        </p:nvGraphicFramePr>
        <p:xfrm>
          <a:off x="3426106" y="1192192"/>
          <a:ext cx="7338349" cy="4734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4338">
                  <a:extLst>
                    <a:ext uri="{9D8B030D-6E8A-4147-A177-3AD203B41FA5}">
                      <a16:colId xmlns:a16="http://schemas.microsoft.com/office/drawing/2014/main" val="4182171820"/>
                    </a:ext>
                  </a:extLst>
                </a:gridCol>
                <a:gridCol w="3814011">
                  <a:extLst>
                    <a:ext uri="{9D8B030D-6E8A-4147-A177-3AD203B41FA5}">
                      <a16:colId xmlns:a16="http://schemas.microsoft.com/office/drawing/2014/main" val="1547242099"/>
                    </a:ext>
                  </a:extLst>
                </a:gridCol>
              </a:tblGrid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Balise HTML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Rôle ARIA implicite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4249349408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</a:t>
                      </a:r>
                      <a:r>
                        <a:rPr lang="fr-FR" sz="2400" kern="0" err="1">
                          <a:effectLst/>
                        </a:rPr>
                        <a:t>form</a:t>
                      </a:r>
                      <a:r>
                        <a:rPr lang="fr-FR" sz="2400" kern="0">
                          <a:effectLst/>
                        </a:rPr>
                        <a:t>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 err="1">
                          <a:effectLst/>
                        </a:rPr>
                        <a:t>role</a:t>
                      </a:r>
                      <a:r>
                        <a:rPr lang="fr-FR" sz="2400" kern="0">
                          <a:effectLst/>
                        </a:rPr>
                        <a:t>="</a:t>
                      </a:r>
                      <a:r>
                        <a:rPr lang="fr-FR" sz="2400" kern="0" err="1">
                          <a:effectLst/>
                        </a:rPr>
                        <a:t>form</a:t>
                      </a:r>
                      <a:r>
                        <a:rPr lang="fr-FR" sz="2400" kern="0">
                          <a:effectLst/>
                        </a:rPr>
                        <a:t>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2374164809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&lt;header&gt;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role="banner"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507118240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&lt;footer&gt;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role="contentinfo"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3735169938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&lt;main&gt;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role="main"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3792780589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&lt;nav&gt;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 err="1">
                          <a:effectLst/>
                        </a:rPr>
                        <a:t>role</a:t>
                      </a:r>
                      <a:r>
                        <a:rPr lang="fr-FR" sz="2400" kern="0">
                          <a:effectLst/>
                        </a:rPr>
                        <a:t>="navigation"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4162926428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&lt;article&gt;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role="article"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2830531005"/>
                  </a:ext>
                </a:extLst>
              </a:tr>
              <a:tr h="591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>
                          <a:effectLst/>
                        </a:rPr>
                        <a:t>&lt;section&gt;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0" err="1">
                          <a:effectLst/>
                        </a:rPr>
                        <a:t>role</a:t>
                      </a:r>
                      <a:r>
                        <a:rPr lang="fr-FR" sz="2400" kern="0">
                          <a:effectLst/>
                        </a:rPr>
                        <a:t>="</a:t>
                      </a:r>
                      <a:r>
                        <a:rPr lang="fr-FR" sz="2400" kern="0" err="1">
                          <a:effectLst/>
                        </a:rPr>
                        <a:t>region</a:t>
                      </a:r>
                      <a:r>
                        <a:rPr lang="fr-FR" sz="2400" kern="0">
                          <a:effectLst/>
                        </a:rPr>
                        <a:t>"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681" marR="28681" marT="0" marB="0" anchor="ctr"/>
                </a:tc>
                <a:extLst>
                  <a:ext uri="{0D108BD9-81ED-4DB2-BD59-A6C34878D82A}">
                    <a16:rowId xmlns:a16="http://schemas.microsoft.com/office/drawing/2014/main" val="224526160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1FB6FE5-1112-E567-E977-0D0DEA486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10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C4A0-D2FA-A761-F808-F3B49CBC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321E88-602D-31F0-475E-7BE5E7EA64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7EF38131-F961-05B7-3007-C7217B2CAA8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FF21D73-0C7D-C2A8-A6D3-FE7D7133487C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19C5AC25-78D0-F228-C73B-6A13B24F93CB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Les actions</a:t>
            </a:r>
          </a:p>
        </p:txBody>
      </p:sp>
    </p:spTree>
    <p:extLst>
      <p:ext uri="{BB962C8B-B14F-4D97-AF65-F5344CB8AC3E}">
        <p14:creationId xmlns:p14="http://schemas.microsoft.com/office/powerpoint/2010/main" val="260817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CB0A2-8749-81D7-A5C6-1FF0D139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7E95313-A578-65EB-AD7E-B75EEEFD4BEE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Action</a:t>
            </a:r>
          </a:p>
          <a:p>
            <a:r>
              <a:rPr lang="fr-FR">
                <a:solidFill>
                  <a:srgbClr val="3B518E"/>
                </a:solidFill>
              </a:rPr>
              <a:t>Interactions de base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1FF6F27-C76D-179F-70EB-5B65D48FFCE5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rgbClr val="141E26"/>
                </a:solidFill>
              </a:rPr>
              <a:t>Playwright</a:t>
            </a: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actions</a:t>
            </a: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3D917A51-D25F-0792-D931-B03BDBAF58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E63F3846-7706-7547-0D89-BB15D87701F6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8EE295-B345-5D6E-768D-E12D352AD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8598FB-1A97-BC3E-5D05-310D79B69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559" y="1983784"/>
            <a:ext cx="7611027" cy="437456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BB59DC9-71A3-A9BC-774F-9860A1D3A447}"/>
              </a:ext>
            </a:extLst>
          </p:cNvPr>
          <p:cNvSpPr txBox="1"/>
          <p:nvPr/>
        </p:nvSpPr>
        <p:spPr>
          <a:xfrm>
            <a:off x="3437682" y="1326387"/>
            <a:ext cx="8518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crtl</a:t>
            </a:r>
            <a:r>
              <a:rPr lang="fr-FR" dirty="0"/>
              <a:t> + espace : permet une </a:t>
            </a:r>
            <a:r>
              <a:rPr lang="fr-FR" dirty="0" err="1"/>
              <a:t>auto-completion</a:t>
            </a:r>
            <a:r>
              <a:rPr lang="fr-FR" dirty="0"/>
              <a:t> qui liste les fonctions utilisables</a:t>
            </a:r>
          </a:p>
        </p:txBody>
      </p:sp>
    </p:spTree>
    <p:extLst>
      <p:ext uri="{BB962C8B-B14F-4D97-AF65-F5344CB8AC3E}">
        <p14:creationId xmlns:p14="http://schemas.microsoft.com/office/powerpoint/2010/main" val="229801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7727-76C9-F301-B7F5-E3EC8B85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AA37B47B-2313-8124-D097-C538976013DD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3B518E"/>
                </a:solidFill>
              </a:rPr>
              <a:t>Action</a:t>
            </a:r>
          </a:p>
          <a:p>
            <a:r>
              <a:rPr lang="fr-FR">
                <a:solidFill>
                  <a:srgbClr val="3B518E"/>
                </a:solidFill>
              </a:rPr>
              <a:t>Interactions de base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F0235C-599A-A20A-48E0-5371486AABB9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actions</a:t>
            </a: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CFFFA9E3-3683-2711-77B8-A52CF939EEE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280C97A6-A9C0-7B9F-FE91-7337CC189491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F69F66-AC92-B6A6-D841-3106A020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126C642-DD4E-5762-41A5-E9B4515D4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19602"/>
              </p:ext>
            </p:extLst>
          </p:nvPr>
        </p:nvGraphicFramePr>
        <p:xfrm>
          <a:off x="3005627" y="1370334"/>
          <a:ext cx="7601413" cy="42492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7543">
                  <a:extLst>
                    <a:ext uri="{9D8B030D-6E8A-4147-A177-3AD203B41FA5}">
                      <a16:colId xmlns:a16="http://schemas.microsoft.com/office/drawing/2014/main" val="1674300669"/>
                    </a:ext>
                  </a:extLst>
                </a:gridCol>
                <a:gridCol w="5313870">
                  <a:extLst>
                    <a:ext uri="{9D8B030D-6E8A-4147-A177-3AD203B41FA5}">
                      <a16:colId xmlns:a16="http://schemas.microsoft.com/office/drawing/2014/main" val="3798322572"/>
                    </a:ext>
                  </a:extLst>
                </a:gridCol>
              </a:tblGrid>
              <a:tr h="7013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Action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Description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829460532"/>
                  </a:ext>
                </a:extLst>
              </a:tr>
              <a:tr h="7095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click</a:t>
                      </a: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fr-FR" sz="1600" b="1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Cliquer sur l’élément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2674655713"/>
                  </a:ext>
                </a:extLst>
              </a:tr>
              <a:tr h="7095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err="1"/>
                        <a:t>dblclick</a:t>
                      </a: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fr-FR" sz="1600" b="1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Double-clique sur l’élément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2544692768"/>
                  </a:ext>
                </a:extLst>
              </a:tr>
              <a:tr h="7095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u="none" strike="noStrike" kern="100" err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hover</a:t>
                      </a: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fr-FR" sz="1600" b="1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Passer la souris sur l’élément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968530023"/>
                  </a:ext>
                </a:extLst>
              </a:tr>
              <a:tr h="7095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focus</a:t>
                      </a: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fr-FR" sz="1600" b="1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 le focus sur l’élément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2133449064"/>
                  </a:ext>
                </a:extLst>
              </a:tr>
              <a:tr h="7095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err="1"/>
                        <a:t>blur</a:t>
                      </a:r>
                      <a:r>
                        <a:rPr lang="fr-FR" sz="1600" b="1" u="none" strike="noStrike" kern="1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()</a:t>
                      </a:r>
                      <a:endParaRPr lang="fr-FR" sz="1600" b="1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Retire le focus de l’élément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107801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70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C72B-5D23-DF77-A5B2-57CFA4E0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53C7A6C6-FF5A-3A92-4688-2211228F657D}"/>
              </a:ext>
            </a:extLst>
          </p:cNvPr>
          <p:cNvSpPr txBox="1">
            <a:spLocks/>
          </p:cNvSpPr>
          <p:nvPr/>
        </p:nvSpPr>
        <p:spPr>
          <a:xfrm>
            <a:off x="354184" y="1219200"/>
            <a:ext cx="2852415" cy="42684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Clavier et texte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DA0B844-4931-0FE5-DB45-C715B1E58CD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actions</a:t>
            </a: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8D51A060-71B2-6263-9FA3-D8C8D8C8128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8267AA45-5C03-69A6-6B48-FBC5B89CE877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F0453F-C228-5218-8217-406EDE039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D67E6B8-7EBE-964E-1929-608FB2A72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67256"/>
              </p:ext>
            </p:extLst>
          </p:nvPr>
        </p:nvGraphicFramePr>
        <p:xfrm>
          <a:off x="2730637" y="1616316"/>
          <a:ext cx="8635702" cy="40595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7348">
                  <a:extLst>
                    <a:ext uri="{9D8B030D-6E8A-4147-A177-3AD203B41FA5}">
                      <a16:colId xmlns:a16="http://schemas.microsoft.com/office/drawing/2014/main" val="1095894943"/>
                    </a:ext>
                  </a:extLst>
                </a:gridCol>
                <a:gridCol w="6358354">
                  <a:extLst>
                    <a:ext uri="{9D8B030D-6E8A-4147-A177-3AD203B41FA5}">
                      <a16:colId xmlns:a16="http://schemas.microsoft.com/office/drawing/2014/main" val="403362356"/>
                    </a:ext>
                  </a:extLst>
                </a:gridCol>
              </a:tblGrid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Méthode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Description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9782925"/>
                  </a:ext>
                </a:extLst>
              </a:tr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fill</a:t>
                      </a:r>
                      <a:r>
                        <a:rPr lang="fr-FR" sz="1800" kern="100">
                          <a:effectLst/>
                        </a:rPr>
                        <a:t>(value)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Remplit un champ de formulaire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9299505"/>
                  </a:ext>
                </a:extLst>
              </a:tr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press</a:t>
                      </a:r>
                      <a:r>
                        <a:rPr lang="fr-FR" sz="1800" kern="100">
                          <a:effectLst/>
                        </a:rPr>
                        <a:t>(key)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</a:rPr>
                        <a:t>Appuie sur une touche (ex : Enter, Tab)</a:t>
                      </a:r>
                      <a:endParaRPr lang="fr-F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1444080"/>
                  </a:ext>
                </a:extLst>
              </a:tr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check()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Coche une case à cocher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137279"/>
                  </a:ext>
                </a:extLst>
              </a:tr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uncheck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Décoche une case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6260100"/>
                  </a:ext>
                </a:extLst>
              </a:tr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selectOption</a:t>
                      </a:r>
                      <a:r>
                        <a:rPr lang="fr-FR" sz="1800" kern="100">
                          <a:effectLst/>
                        </a:rPr>
                        <a:t>(value)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Sélectionne une option dans une liste déroulante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4293364"/>
                  </a:ext>
                </a:extLst>
              </a:tr>
              <a:tr h="5799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clear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</a:rPr>
                        <a:t>Efface le contenu d’un champ</a:t>
                      </a:r>
                      <a:endParaRPr lang="fr-F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1392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87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8D40B-92F1-5DB0-8BE5-F0CE877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BF83A337-443B-5863-4B80-45C41EBC425D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Attentes / Contrôles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A2F6ECF-FDD8-C930-FC7A-B4B793954DBB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actions</a:t>
            </a: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BCB986C-00E2-27F2-37B2-76DD364B2E9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7C357B6-7BC0-93B4-2D3B-A1B7E7695E1E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5449BB3-CABE-FE24-F7B4-2397046AC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FEBAA9C-EB00-DF11-68AE-3F4B377F0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8619"/>
              </p:ext>
            </p:extLst>
          </p:nvPr>
        </p:nvGraphicFramePr>
        <p:xfrm>
          <a:off x="2886919" y="1874959"/>
          <a:ext cx="8456271" cy="4421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3907">
                  <a:extLst>
                    <a:ext uri="{9D8B030D-6E8A-4147-A177-3AD203B41FA5}">
                      <a16:colId xmlns:a16="http://schemas.microsoft.com/office/drawing/2014/main" val="1994013660"/>
                    </a:ext>
                  </a:extLst>
                </a:gridCol>
                <a:gridCol w="6202364">
                  <a:extLst>
                    <a:ext uri="{9D8B030D-6E8A-4147-A177-3AD203B41FA5}">
                      <a16:colId xmlns:a16="http://schemas.microsoft.com/office/drawing/2014/main" val="1159362602"/>
                    </a:ext>
                  </a:extLst>
                </a:gridCol>
              </a:tblGrid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Méthode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Description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6258078"/>
                  </a:ext>
                </a:extLst>
              </a:tr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waitFor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Attend que l’élément apparaisse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7548785"/>
                  </a:ext>
                </a:extLst>
              </a:tr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isVisible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Vérifie si l’élément est visible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1479212"/>
                  </a:ext>
                </a:extLst>
              </a:tr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isEnabled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Vérifie si l’élément est activé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04657416"/>
                  </a:ext>
                </a:extLst>
              </a:tr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isChecked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Vérifie si une case est cochée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8317244"/>
                  </a:ext>
                </a:extLst>
              </a:tr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textContent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Récupère le texte contenu dans l’élément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5027104"/>
                  </a:ext>
                </a:extLst>
              </a:tr>
              <a:tr h="631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</a:t>
                      </a:r>
                      <a:r>
                        <a:rPr lang="fr-FR" sz="1800" kern="100" err="1">
                          <a:effectLst/>
                        </a:rPr>
                        <a:t>getAttribute</a:t>
                      </a:r>
                      <a:r>
                        <a:rPr lang="fr-FR" sz="1800" kern="100">
                          <a:effectLst/>
                        </a:rPr>
                        <a:t>(</a:t>
                      </a:r>
                      <a:r>
                        <a:rPr lang="fr-FR" sz="1800" kern="100" err="1">
                          <a:effectLst/>
                        </a:rPr>
                        <a:t>name</a:t>
                      </a:r>
                      <a:r>
                        <a:rPr lang="fr-FR" sz="1800" kern="100">
                          <a:effectLst/>
                        </a:rPr>
                        <a:t>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 Récupère une valeur d’attribut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03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58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944C23-0306-4C79-A615-0F5495658B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9E6F0052-C844-4C3B-948F-88E3961AD71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22BF55BC-6F2B-4024-95D5-A0C7ADD879B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JMETER</a:t>
            </a: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LISTENERS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04311FB-FBF7-4BC4-BD8F-F8A468C6FE97}"/>
              </a:ext>
            </a:extLst>
          </p:cNvPr>
          <p:cNvSpPr txBox="1">
            <a:spLocks/>
          </p:cNvSpPr>
          <p:nvPr/>
        </p:nvSpPr>
        <p:spPr>
          <a:xfrm>
            <a:off x="3650540" y="2875002"/>
            <a:ext cx="1148362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dirty="0"/>
              <a:t>	Les assertions</a:t>
            </a:r>
          </a:p>
        </p:txBody>
      </p:sp>
    </p:spTree>
    <p:extLst>
      <p:ext uri="{BB962C8B-B14F-4D97-AF65-F5344CB8AC3E}">
        <p14:creationId xmlns:p14="http://schemas.microsoft.com/office/powerpoint/2010/main" val="11405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C1B8-9805-6195-7C15-6B76C8FB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87F185D7-EF3E-595F-234A-597E66DC6114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273A5056-B9EF-225D-350E-D7C404D267E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38BEF38-836C-5067-4B39-624EB37F068B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46EB8C-D844-F920-05F3-FE3A2005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9F64F5-329A-E7A7-934A-3DD5BC960EA0}"/>
              </a:ext>
            </a:extLst>
          </p:cNvPr>
          <p:cNvSpPr txBox="1"/>
          <p:nvPr/>
        </p:nvSpPr>
        <p:spPr>
          <a:xfrm>
            <a:off x="2835798" y="1397675"/>
            <a:ext cx="85189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Une assertion permet de vérifier qu’un comportement attendu est correct dans un test.</a:t>
            </a:r>
          </a:p>
          <a:p>
            <a:pPr>
              <a:buNone/>
            </a:pPr>
            <a:r>
              <a:rPr lang="fr-FR" dirty="0"/>
              <a:t>Avec </a:t>
            </a:r>
            <a:r>
              <a:rPr lang="fr-FR" dirty="0" err="1"/>
              <a:t>Playwright</a:t>
            </a:r>
            <a:r>
              <a:rPr lang="fr-FR" dirty="0"/>
              <a:t>, les assertions servent à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vérifier le contenu d’une page,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contrôler la visibilité d’un élément,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tester une valeur,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valider une navigation.</a:t>
            </a:r>
          </a:p>
        </p:txBody>
      </p:sp>
      <p:sp>
        <p:nvSpPr>
          <p:cNvPr id="7" name="Espace réservé du texte 19">
            <a:extLst>
              <a:ext uri="{FF2B5EF4-FFF2-40B4-BE49-F238E27FC236}">
                <a16:creationId xmlns:a16="http://schemas.microsoft.com/office/drawing/2014/main" id="{3A2D99D7-A2CE-D8B2-5266-BDBF4837255B}"/>
              </a:ext>
            </a:extLst>
          </p:cNvPr>
          <p:cNvSpPr txBox="1">
            <a:spLocks/>
          </p:cNvSpPr>
          <p:nvPr/>
        </p:nvSpPr>
        <p:spPr>
          <a:xfrm>
            <a:off x="354184" y="1219200"/>
            <a:ext cx="2852415" cy="42684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Assertion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B09F215-640B-399A-2D0C-12B8CBEDE188}"/>
              </a:ext>
            </a:extLst>
          </p:cNvPr>
          <p:cNvSpPr txBox="1"/>
          <p:nvPr/>
        </p:nvSpPr>
        <p:spPr>
          <a:xfrm>
            <a:off x="4514127" y="4283075"/>
            <a:ext cx="8518966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titre =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page.locator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'h1'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(titre).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toHaveText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'Bienvenue'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D2B837-5191-1897-B57E-0D39E25CF80C}"/>
              </a:ext>
            </a:extLst>
          </p:cNvPr>
          <p:cNvSpPr txBox="1"/>
          <p:nvPr/>
        </p:nvSpPr>
        <p:spPr>
          <a:xfrm>
            <a:off x="2835798" y="3782794"/>
            <a:ext cx="8518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Exemple :</a:t>
            </a:r>
          </a:p>
        </p:txBody>
      </p:sp>
    </p:spTree>
    <p:extLst>
      <p:ext uri="{BB962C8B-B14F-4D97-AF65-F5344CB8AC3E}">
        <p14:creationId xmlns:p14="http://schemas.microsoft.com/office/powerpoint/2010/main" val="285025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DF0C-0F50-6DCA-C429-40D50935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202202B7-F347-26B6-A8A6-7275F9EAF133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84B32F9-9E9E-BB98-6725-B8E84F1B36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2278A224-052D-50A4-2CE1-1A72C7474D4A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B1AFBF-DE2D-B9F4-4645-0DEFCB20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DA75364-F83B-A774-F419-D956D42E99EE}"/>
              </a:ext>
            </a:extLst>
          </p:cNvPr>
          <p:cNvGraphicFramePr>
            <a:graphicFrameLocks noGrp="1"/>
          </p:cNvGraphicFramePr>
          <p:nvPr/>
        </p:nvGraphicFramePr>
        <p:xfrm>
          <a:off x="956113" y="971554"/>
          <a:ext cx="10699440" cy="54485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6966">
                  <a:extLst>
                    <a:ext uri="{9D8B030D-6E8A-4147-A177-3AD203B41FA5}">
                      <a16:colId xmlns:a16="http://schemas.microsoft.com/office/drawing/2014/main" val="1288701494"/>
                    </a:ext>
                  </a:extLst>
                </a:gridCol>
                <a:gridCol w="3385600">
                  <a:extLst>
                    <a:ext uri="{9D8B030D-6E8A-4147-A177-3AD203B41FA5}">
                      <a16:colId xmlns:a16="http://schemas.microsoft.com/office/drawing/2014/main" val="189200001"/>
                    </a:ext>
                  </a:extLst>
                </a:gridCol>
                <a:gridCol w="5166874">
                  <a:extLst>
                    <a:ext uri="{9D8B030D-6E8A-4147-A177-3AD203B41FA5}">
                      <a16:colId xmlns:a16="http://schemas.microsoft.com/office/drawing/2014/main" val="342990704"/>
                    </a:ext>
                  </a:extLst>
                </a:gridCol>
              </a:tblGrid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Méthode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Vérifie que...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Exemple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9161676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 err="1">
                          <a:effectLst/>
                        </a:rPr>
                        <a:t>toHaveText</a:t>
                      </a:r>
                      <a:r>
                        <a:rPr lang="fr-FR" sz="1800" kern="100" dirty="0">
                          <a:effectLst/>
                        </a:rPr>
                        <a:t>()</a:t>
                      </a:r>
                      <a:endParaRPr lang="fr-F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le texte est présent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expect(locator).toHaveText('Bonjour')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67108756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toContainText()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</a:rPr>
                        <a:t>le texte contient un mot</a:t>
                      </a:r>
                      <a:endParaRPr lang="fr-F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expect(locator).toContainText('Erreur')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1989424"/>
                  </a:ext>
                </a:extLst>
              </a:tr>
              <a:tr h="410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toHaveAttribute()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un attribut a une certaine valeur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 err="1">
                          <a:effectLst/>
                        </a:rPr>
                        <a:t>expect</a:t>
                      </a:r>
                      <a:r>
                        <a:rPr lang="fr-FR" sz="1800" kern="100" dirty="0">
                          <a:effectLst/>
                        </a:rPr>
                        <a:t>(</a:t>
                      </a:r>
                      <a:r>
                        <a:rPr lang="fr-FR" sz="1800" kern="100" dirty="0" err="1">
                          <a:effectLst/>
                        </a:rPr>
                        <a:t>locator</a:t>
                      </a:r>
                      <a:r>
                        <a:rPr lang="fr-FR" sz="1800" kern="100" dirty="0">
                          <a:effectLst/>
                        </a:rPr>
                        <a:t>).</a:t>
                      </a:r>
                      <a:r>
                        <a:rPr lang="fr-FR" sz="1800" kern="100" dirty="0" err="1">
                          <a:effectLst/>
                        </a:rPr>
                        <a:t>toHaveAttribute</a:t>
                      </a:r>
                      <a:r>
                        <a:rPr lang="fr-FR" sz="1800" kern="100" dirty="0">
                          <a:effectLst/>
                        </a:rPr>
                        <a:t>('href', '/accueil')</a:t>
                      </a:r>
                      <a:endParaRPr lang="fr-F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4097529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toBeVisible()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l’élément est visible à l’écran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expect(locator).toBeVisible()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2887932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toBeHidden()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l’élément n’est pas visible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expect(locator).toBeHidden()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3624809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toBeChecked()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une checkbox est cochée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expect(locator).toBeChecked()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3196045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toBeDisabled()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un bouton ou champ est désactivé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expect(locator).toBeDisabled()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6262777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toBeEnabled()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l’inverse, il est actif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expect(locator).toBeEnabled()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69922114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toHaveValue()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un champ a une certaine valeur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expect(locator).toHaveValue('Jean')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126557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toHaveCount()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il y a un certain nombre d’éléments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expect(locator).toHaveCount(3)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2075135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toHaveURL()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l’URL de la page est correcte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expect(page).toHaveURL(/login/)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0958907"/>
                  </a:ext>
                </a:extLst>
              </a:tr>
              <a:tr h="419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err="1">
                          <a:effectLst/>
                        </a:rPr>
                        <a:t>toHaveTitle</a:t>
                      </a:r>
                      <a:r>
                        <a:rPr lang="fr-FR" sz="1800" kern="100">
                          <a:effectLst/>
                        </a:rPr>
                        <a:t>()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</a:rPr>
                        <a:t>le titre de la page est correct</a:t>
                      </a:r>
                      <a:endParaRPr lang="fr-F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 err="1">
                          <a:effectLst/>
                        </a:rPr>
                        <a:t>expect</a:t>
                      </a:r>
                      <a:r>
                        <a:rPr lang="fr-FR" sz="1800" kern="100" dirty="0">
                          <a:effectLst/>
                        </a:rPr>
                        <a:t>(page).</a:t>
                      </a:r>
                      <a:r>
                        <a:rPr lang="fr-FR" sz="1800" kern="100" dirty="0" err="1">
                          <a:effectLst/>
                        </a:rPr>
                        <a:t>toHaveTitle</a:t>
                      </a:r>
                      <a:r>
                        <a:rPr lang="fr-FR" sz="1800" kern="100" dirty="0">
                          <a:effectLst/>
                        </a:rPr>
                        <a:t>('Accueil')</a:t>
                      </a:r>
                      <a:endParaRPr lang="fr-F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2662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2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4D03-43D1-A632-2E11-2FFBD490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641487-7B89-765C-1C4A-351A2CBF6B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B71C0F1-BCE6-66A0-1F6B-B6C0BA7BD06B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7F990B9-80CC-58AB-6873-3BCC61D1AFF1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72990C88-D59E-3FF4-7513-248497F328AA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26E86354-FD8C-CC57-703E-AC72B1978F99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68B73340-6165-133C-5378-303CE6940059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2F03CF06-B95A-34DD-6DE1-F4EA9677BB3D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AA4ED955-3B82-7447-0821-DBBD604A37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7BF47347-3CD1-EA17-566F-4B52FF9695F2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67AE5293-D543-7B3D-9E60-1857D75333AE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Test drag and drop</a:t>
            </a:r>
          </a:p>
        </p:txBody>
      </p:sp>
    </p:spTree>
    <p:extLst>
      <p:ext uri="{BB962C8B-B14F-4D97-AF65-F5344CB8AC3E}">
        <p14:creationId xmlns:p14="http://schemas.microsoft.com/office/powerpoint/2010/main" val="145250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F4BA-1D4D-D07E-F18D-6C3415FB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544BED-A1CA-A63F-078E-2C4BB4455B9B}"/>
              </a:ext>
            </a:extLst>
          </p:cNvPr>
          <p:cNvSpPr/>
          <p:nvPr/>
        </p:nvSpPr>
        <p:spPr>
          <a:xfrm>
            <a:off x="-1" y="-11936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0FF3B56-537E-5045-363B-EE2B91BE2BB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TRAVAUX PRATIQUES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A5C9C810-229B-276A-C852-1594548838B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698FA9C5-748A-61BE-4B82-D8D3DF9A534F}"/>
              </a:ext>
            </a:extLst>
          </p:cNvPr>
          <p:cNvGrpSpPr/>
          <p:nvPr/>
        </p:nvGrpSpPr>
        <p:grpSpPr>
          <a:xfrm>
            <a:off x="-1" y="0"/>
            <a:ext cx="3667688" cy="6858001"/>
            <a:chOff x="-1" y="0"/>
            <a:chExt cx="4292084" cy="6858001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736F139B-3048-8B4F-D284-0CCF4DACC1D7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95B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Triangle rectangle 10">
              <a:extLst>
                <a:ext uri="{FF2B5EF4-FFF2-40B4-BE49-F238E27FC236}">
                  <a16:creationId xmlns:a16="http://schemas.microsoft.com/office/drawing/2014/main" id="{75F15BA1-45E9-71AE-1BC2-B790651FA56C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Triangle rectangle 11">
              <a:extLst>
                <a:ext uri="{FF2B5EF4-FFF2-40B4-BE49-F238E27FC236}">
                  <a16:creationId xmlns:a16="http://schemas.microsoft.com/office/drawing/2014/main" id="{212B20A5-B3B9-4037-56A3-53474F939A96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EF24371F-6F36-1902-D65E-D91C1D18267C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TRAVAUX PRATIQUES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50B5818C-47F7-861D-A4BC-1A698A2EF1A0}"/>
              </a:ext>
            </a:extLst>
          </p:cNvPr>
          <p:cNvSpPr txBox="1">
            <a:spLocks/>
          </p:cNvSpPr>
          <p:nvPr/>
        </p:nvSpPr>
        <p:spPr>
          <a:xfrm>
            <a:off x="4021872" y="2699281"/>
            <a:ext cx="781594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TP </a:t>
            </a:r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demoQA</a:t>
            </a:r>
            <a:endParaRPr lang="fr-FR" sz="44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8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BF65-338C-774D-A1EB-BC0CCB84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B0E018-2B54-F252-6492-1F91999313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5F0D2A4-DC89-182F-EB94-643AA6AED4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7780"/>
          <a:stretch/>
        </p:blipFill>
        <p:spPr>
          <a:xfrm>
            <a:off x="1" y="0"/>
            <a:ext cx="3470988" cy="6858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C58CE66-148A-2073-4C79-D5D68B952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A5C4F563-6480-FFF4-E1E4-B8CABEA1D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3470987" cy="3470987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2F2C6A11-5231-523B-A88A-A523350C4E0B}"/>
              </a:ext>
            </a:extLst>
          </p:cNvPr>
          <p:cNvSpPr txBox="1">
            <a:spLocks/>
          </p:cNvSpPr>
          <p:nvPr/>
        </p:nvSpPr>
        <p:spPr>
          <a:xfrm>
            <a:off x="3470989" y="3318644"/>
            <a:ext cx="8644932" cy="206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Playwright</a:t>
            </a:r>
            <a:br>
              <a:rPr lang="fr-FR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fr-FR" dirty="0">
                <a:solidFill>
                  <a:srgbClr val="AAD23B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M03 - Architecture &amp; Réutilisabilité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823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D866-8996-1F6B-1182-7FAF75395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5C3D65-A648-A0B8-7B1D-602EBEAB7B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4EF9721-6883-3D3F-EF89-74FA55DC45F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DE03A56B-2C00-332F-69FD-0A7B11EB215B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22894862-D0C7-006F-4EC5-A4BD27DCBC67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Les </a:t>
            </a:r>
            <a:r>
              <a:rPr lang="fr-FR" sz="4400" dirty="0" err="1"/>
              <a:t>hooks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232082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4670-E94E-6274-9B44-047D3E86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0D9EE7B9-E244-3269-ED69-CF0EF91989E6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Les Hooks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808D013-FB64-BF7F-7DB8-001F4F9B433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b="1" cap="all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hooks</a:t>
            </a:r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63C8965-8C3C-2AD8-846F-4ABF6B7B76C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1354D1A6-4CDF-1E11-43D1-E3FC61B5B057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CC3DA4-38F1-EF05-575E-60F577DCC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5B085F8-8C38-702C-220E-D1772F728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646684"/>
              </p:ext>
            </p:extLst>
          </p:nvPr>
        </p:nvGraphicFramePr>
        <p:xfrm>
          <a:off x="914400" y="1825625"/>
          <a:ext cx="10923415" cy="4421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7906">
                  <a:extLst>
                    <a:ext uri="{9D8B030D-6E8A-4147-A177-3AD203B41FA5}">
                      <a16:colId xmlns:a16="http://schemas.microsoft.com/office/drawing/2014/main" val="1133548537"/>
                    </a:ext>
                  </a:extLst>
                </a:gridCol>
                <a:gridCol w="3796496">
                  <a:extLst>
                    <a:ext uri="{9D8B030D-6E8A-4147-A177-3AD203B41FA5}">
                      <a16:colId xmlns:a16="http://schemas.microsoft.com/office/drawing/2014/main" val="171690914"/>
                    </a:ext>
                  </a:extLst>
                </a:gridCol>
                <a:gridCol w="5339013">
                  <a:extLst>
                    <a:ext uri="{9D8B030D-6E8A-4147-A177-3AD203B41FA5}">
                      <a16:colId xmlns:a16="http://schemas.microsoft.com/office/drawing/2014/main" val="3323442077"/>
                    </a:ext>
                  </a:extLst>
                </a:gridCol>
              </a:tblGrid>
              <a:tr h="8843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Hook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 Quand est-il exécuté ?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Usage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9529023"/>
                  </a:ext>
                </a:extLst>
              </a:tr>
              <a:tr h="8843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</a:t>
                      </a:r>
                      <a:r>
                        <a:rPr lang="fr-FR" sz="2400" kern="100" err="1">
                          <a:effectLst/>
                        </a:rPr>
                        <a:t>beforeAll</a:t>
                      </a:r>
                      <a:r>
                        <a:rPr lang="fr-FR" sz="2400" kern="100">
                          <a:effectLst/>
                        </a:rPr>
                        <a:t>()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 Avant tous les tests du fichier 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Initialiser des données globales, connexion API, préparation d’environnement.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0418731"/>
                  </a:ext>
                </a:extLst>
              </a:tr>
              <a:tr h="8843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</a:t>
                      </a:r>
                      <a:r>
                        <a:rPr lang="fr-FR" sz="2400" kern="100" err="1">
                          <a:effectLst/>
                        </a:rPr>
                        <a:t>afterAll</a:t>
                      </a:r>
                      <a:r>
                        <a:rPr lang="fr-FR" sz="2400" kern="100">
                          <a:effectLst/>
                        </a:rPr>
                        <a:t>()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 Après tous les tests du fichier 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dirty="0"/>
                        <a:t>Nettoyage global, suppression BDD, logs finaux.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7887381"/>
                  </a:ext>
                </a:extLst>
              </a:tr>
              <a:tr h="8843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</a:t>
                      </a:r>
                      <a:r>
                        <a:rPr lang="fr-FR" sz="2400" kern="100" err="1">
                          <a:effectLst/>
                        </a:rPr>
                        <a:t>beforeEach</a:t>
                      </a:r>
                      <a:r>
                        <a:rPr lang="fr-FR" sz="2400" kern="100">
                          <a:effectLst/>
                        </a:rPr>
                        <a:t>()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 Avant chaque test individuel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Ouvrir une page, se connecter, remettre l’état initial.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2522127"/>
                  </a:ext>
                </a:extLst>
              </a:tr>
              <a:tr h="8843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 </a:t>
                      </a:r>
                      <a:r>
                        <a:rPr lang="fr-FR" sz="2400" kern="100" err="1">
                          <a:effectLst/>
                        </a:rPr>
                        <a:t>afterEach</a:t>
                      </a:r>
                      <a:r>
                        <a:rPr lang="fr-FR" sz="2400" kern="100">
                          <a:effectLst/>
                        </a:rPr>
                        <a:t>()</a:t>
                      </a:r>
                      <a:endParaRPr lang="fr-F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 Après chaque test individuel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/>
                        <a:t>Nettoyage, fermeture page, suppression données temporaires.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449452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89E7021C-D264-1DE1-C67B-B6C3DA21DE18}"/>
              </a:ext>
            </a:extLst>
          </p:cNvPr>
          <p:cNvSpPr txBox="1"/>
          <p:nvPr/>
        </p:nvSpPr>
        <p:spPr>
          <a:xfrm>
            <a:off x="2604325" y="449287"/>
            <a:ext cx="85189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Les </a:t>
            </a:r>
            <a:r>
              <a:rPr lang="fr-FR" sz="2400" b="1" dirty="0" err="1"/>
              <a:t>hooks</a:t>
            </a:r>
            <a:r>
              <a:rPr lang="fr-FR" sz="2400" dirty="0"/>
              <a:t> en test automatisé sont des fonctions exécutées automatiquement à des moments précis du cycle de test (avant, après, ou entre les tests).</a:t>
            </a:r>
          </a:p>
        </p:txBody>
      </p:sp>
    </p:spTree>
    <p:extLst>
      <p:ext uri="{BB962C8B-B14F-4D97-AF65-F5344CB8AC3E}">
        <p14:creationId xmlns:p14="http://schemas.microsoft.com/office/powerpoint/2010/main" val="341237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9151-BAA4-6131-64C2-0C1D16A9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7252CF54-CFB9-2FEE-9DA2-039DAC3694AF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Exemple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E7FF54C-6774-50C3-F20C-410609020120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err="1">
                <a:solidFill>
                  <a:srgbClr val="141E26"/>
                </a:solidFill>
              </a:rPr>
              <a:t>Playwright</a:t>
            </a:r>
            <a:endParaRPr lang="fr-FR">
              <a:solidFill>
                <a:srgbClr val="141E26"/>
              </a:solidFill>
            </a:endParaRPr>
          </a:p>
          <a:p>
            <a:r>
              <a:rPr lang="fr-FR" b="1" cap="all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b="1" cap="all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hooks</a:t>
            </a:r>
            <a:endParaRPr lang="fr-FR" b="1" cap="all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9926999-927A-FB5D-4840-1736267E82D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4" y="6124781"/>
            <a:ext cx="528777" cy="52877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D78923DE-E3AF-CF0C-0512-28CC93F611EC}"/>
              </a:ext>
            </a:extLst>
          </p:cNvPr>
          <p:cNvSpPr txBox="1"/>
          <p:nvPr/>
        </p:nvSpPr>
        <p:spPr>
          <a:xfrm>
            <a:off x="2429695" y="3361420"/>
            <a:ext cx="1151864" cy="460545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/>
          </a:bodyPr>
          <a:lstStyle/>
          <a:p>
            <a:pPr algn="ctr"/>
            <a:endParaRPr lang="fr-FR" sz="2000">
              <a:solidFill>
                <a:srgbClr val="011F3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6F4922-34EB-5220-C4C1-2B2993A01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EF6D4A-84B7-1533-A9DE-345406870B13}"/>
              </a:ext>
            </a:extLst>
          </p:cNvPr>
          <p:cNvSpPr txBox="1"/>
          <p:nvPr/>
        </p:nvSpPr>
        <p:spPr>
          <a:xfrm>
            <a:off x="1921397" y="1602413"/>
            <a:ext cx="10000527" cy="387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test.beforeAll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fr-FR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fr-FR" sz="2000" dirty="0">
                <a:solidFill>
                  <a:srgbClr val="A31515"/>
                </a:solidFill>
                <a:latin typeface="Consolas" panose="020B0609020204030204" pitchFamily="49" charset="0"/>
              </a:rPr>
              <a:t>'Initialisation globale : connexion API, setup DB...’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test.afterAll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fr-FR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fr-FR" sz="2000" dirty="0">
                <a:solidFill>
                  <a:srgbClr val="A31515"/>
                </a:solidFill>
                <a:latin typeface="Consolas" panose="020B0609020204030204" pitchFamily="49" charset="0"/>
              </a:rPr>
              <a:t>'Nettoyage global : suppression données test...'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test.beforeEach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fr-FR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page.goto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000" dirty="0">
                <a:solidFill>
                  <a:srgbClr val="A31515"/>
                </a:solidFill>
                <a:latin typeface="Consolas" panose="020B0609020204030204" pitchFamily="49" charset="0"/>
              </a:rPr>
              <a:t>'https://example.com'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test.afterEach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fr-FR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page.close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9651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F5F1-3673-7B28-A380-153F964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D5E648-70A8-0DD7-83DE-70BC2FE1F7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CAC278B-B96D-95F2-8B73-F626CDF69F0C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D13BCE0-58AA-0FA3-7671-48D63701AAED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74059034-7606-9DAD-387E-94E81F3F1653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0EFA371A-EBEE-8DD0-2B8A-662DB743F19F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56B522A0-DF94-9355-6C72-613D411A5C38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4EB0F3B6-8081-AF76-75CF-5F0CE78452D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18289CE-69BD-DB8E-FAB7-298A6A169B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DECC1889-BA0E-6758-528E-F9C32C91227A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19ADBC14-29FC-087B-31FF-BC84E9CC2673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Les </a:t>
            </a:r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hooks</a:t>
            </a:r>
            <a:endParaRPr lang="fr-FR" sz="44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67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192CA-3352-AAC1-91A5-FA2CC7EF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E017FD-F5F8-F9A9-429F-9C61DC66FD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DBEA0DA-C96D-8CF1-ECF4-B48E2D2E23F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907F3293-7EE6-0B0D-984D-FFD855436CFB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79DF52FF-FBC7-FDA2-81F3-5C06F942CCBA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Les fixtures</a:t>
            </a:r>
          </a:p>
        </p:txBody>
      </p:sp>
    </p:spTree>
    <p:extLst>
      <p:ext uri="{BB962C8B-B14F-4D97-AF65-F5344CB8AC3E}">
        <p14:creationId xmlns:p14="http://schemas.microsoft.com/office/powerpoint/2010/main" val="110670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8D5586-3F93-9DB7-332D-D6663F8780A0}"/>
              </a:ext>
            </a:extLst>
          </p:cNvPr>
          <p:cNvSpPr txBox="1"/>
          <p:nvPr/>
        </p:nvSpPr>
        <p:spPr>
          <a:xfrm>
            <a:off x="2802194" y="97986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Qu’est-ce qu’une Fixture ?</a:t>
            </a:r>
          </a:p>
          <a:p>
            <a:pPr>
              <a:buNone/>
            </a:pPr>
            <a:r>
              <a:rPr lang="fr-FR" dirty="0"/>
              <a:t>Les </a:t>
            </a:r>
            <a:r>
              <a:rPr lang="fr-FR" b="1" dirty="0"/>
              <a:t>fixtures</a:t>
            </a:r>
            <a:r>
              <a:rPr lang="fr-FR" dirty="0"/>
              <a:t> dans </a:t>
            </a:r>
            <a:r>
              <a:rPr lang="fr-FR" dirty="0" err="1"/>
              <a:t>Playwright</a:t>
            </a:r>
            <a:r>
              <a:rPr lang="fr-FR" dirty="0"/>
              <a:t> permettent de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Préparer un contexte de test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Réutiliser du code commun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Injecter automatiquement des dépendances dans les tests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D268D1-A4A6-4C77-2BE0-7D4ADF4DC7E0}"/>
              </a:ext>
            </a:extLst>
          </p:cNvPr>
          <p:cNvSpPr txBox="1"/>
          <p:nvPr/>
        </p:nvSpPr>
        <p:spPr>
          <a:xfrm>
            <a:off x="3206599" y="3016964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page,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browser,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context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'https://example.com'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A3E0DE1-726C-0A7D-7A58-615DF2F7FD6A}"/>
              </a:ext>
            </a:extLst>
          </p:cNvPr>
          <p:cNvSpPr txBox="1"/>
          <p:nvPr/>
        </p:nvSpPr>
        <p:spPr>
          <a:xfrm>
            <a:off x="6853084" y="4663314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Avantages</a:t>
            </a:r>
          </a:p>
          <a:p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Réduction de duplication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Tests plus propres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Initialisation centralisée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Maintenance simplifiée</a:t>
            </a:r>
          </a:p>
        </p:txBody>
      </p:sp>
      <p:sp>
        <p:nvSpPr>
          <p:cNvPr id="8" name="Espace réservé du texte 19">
            <a:extLst>
              <a:ext uri="{FF2B5EF4-FFF2-40B4-BE49-F238E27FC236}">
                <a16:creationId xmlns:a16="http://schemas.microsoft.com/office/drawing/2014/main" id="{ED265F0A-96F2-123B-F889-5BCF14240A42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Fixtures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157DA85-EA13-9891-E6EC-436D82D513DF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155327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B6A755B-7CD3-0C04-CE11-AFEF21E00921}"/>
              </a:ext>
            </a:extLst>
          </p:cNvPr>
          <p:cNvSpPr txBox="1"/>
          <p:nvPr/>
        </p:nvSpPr>
        <p:spPr>
          <a:xfrm>
            <a:off x="2561087" y="2210634"/>
            <a:ext cx="6285167" cy="405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test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 }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/test'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test =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base.extend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loggedPage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page }, use)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'https://app.com/login'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page.fill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'#email'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'admin@test.com'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page.fill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'123456'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page.click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'#login-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use(page);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452382-04BB-9822-F67E-9E1DC1391F07}"/>
              </a:ext>
            </a:extLst>
          </p:cNvPr>
          <p:cNvSpPr txBox="1"/>
          <p:nvPr/>
        </p:nvSpPr>
        <p:spPr>
          <a:xfrm>
            <a:off x="3206599" y="1370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/>
              <a:t>Exemple : utilisateur connecté</a:t>
            </a:r>
          </a:p>
        </p:txBody>
      </p:sp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795C8176-117E-62FD-C84C-BCB6EA53ADB7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Créer une Fixture Personnalisée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F8C11A-90FA-82F8-2C80-79A99DE4578B}"/>
              </a:ext>
            </a:extLst>
          </p:cNvPr>
          <p:cNvSpPr txBox="1"/>
          <p:nvPr/>
        </p:nvSpPr>
        <p:spPr>
          <a:xfrm>
            <a:off x="7240817" y="54443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Retour de la page modifiée par la fixture</a:t>
            </a:r>
          </a:p>
        </p:txBody>
      </p:sp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C0B4AA48-1389-F914-B7F3-A796C7E8EDE2}"/>
              </a:ext>
            </a:extLst>
          </p:cNvPr>
          <p:cNvSpPr/>
          <p:nvPr/>
        </p:nvSpPr>
        <p:spPr>
          <a:xfrm>
            <a:off x="8763536" y="3747126"/>
            <a:ext cx="221867" cy="153279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7DC8DDD-D053-6AED-5A20-8C6BF2F413BC}"/>
              </a:ext>
            </a:extLst>
          </p:cNvPr>
          <p:cNvCxnSpPr>
            <a:cxnSpLocks/>
          </p:cNvCxnSpPr>
          <p:nvPr/>
        </p:nvCxnSpPr>
        <p:spPr>
          <a:xfrm flipH="1" flipV="1">
            <a:off x="5938684" y="3172508"/>
            <a:ext cx="2851132" cy="3079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1D73A3E-773A-1C3B-A938-18E7B34D7F1C}"/>
              </a:ext>
            </a:extLst>
          </p:cNvPr>
          <p:cNvCxnSpPr>
            <a:cxnSpLocks/>
          </p:cNvCxnSpPr>
          <p:nvPr/>
        </p:nvCxnSpPr>
        <p:spPr>
          <a:xfrm flipH="1">
            <a:off x="6887494" y="2573259"/>
            <a:ext cx="1763173" cy="3537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0A98E756-F5D6-59B0-4F49-1ED309327897}"/>
              </a:ext>
            </a:extLst>
          </p:cNvPr>
          <p:cNvSpPr txBox="1"/>
          <p:nvPr/>
        </p:nvSpPr>
        <p:spPr>
          <a:xfrm>
            <a:off x="8789816" y="31007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page web ouverte dans </a:t>
            </a:r>
          </a:p>
          <a:p>
            <a:r>
              <a:rPr lang="fr-FR" dirty="0"/>
              <a:t>Chrome/Firefox/</a:t>
            </a:r>
            <a:r>
              <a:rPr lang="fr-FR" dirty="0" err="1"/>
              <a:t>WebKit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6B69D11-B1DC-007B-8CEE-0347CC7C6B98}"/>
              </a:ext>
            </a:extLst>
          </p:cNvPr>
          <p:cNvSpPr txBox="1"/>
          <p:nvPr/>
        </p:nvSpPr>
        <p:spPr>
          <a:xfrm>
            <a:off x="8789816" y="2088883"/>
            <a:ext cx="3471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Fonction définie par </a:t>
            </a:r>
            <a:r>
              <a:rPr lang="fr-FR" dirty="0" err="1"/>
              <a:t>playwright</a:t>
            </a:r>
            <a:r>
              <a:rPr lang="fr-FR" dirty="0"/>
              <a:t>,</a:t>
            </a:r>
          </a:p>
          <a:p>
            <a:r>
              <a:rPr lang="fr-FR" dirty="0"/>
              <a:t>servant entre autres, à transmettre la valeur de la fixture au test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EE1EEBA-7476-E2C4-8030-2445B65E4F8E}"/>
              </a:ext>
            </a:extLst>
          </p:cNvPr>
          <p:cNvSpPr txBox="1"/>
          <p:nvPr/>
        </p:nvSpPr>
        <p:spPr>
          <a:xfrm>
            <a:off x="8896272" y="41423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Traitement réalisé sur la page</a:t>
            </a:r>
          </a:p>
          <a:p>
            <a:r>
              <a:rPr lang="fr-FR" dirty="0"/>
              <a:t> ( connexion )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CC4F622-B327-DEFF-6E64-68E853897E1D}"/>
              </a:ext>
            </a:extLst>
          </p:cNvPr>
          <p:cNvCxnSpPr>
            <a:cxnSpLocks/>
          </p:cNvCxnSpPr>
          <p:nvPr/>
        </p:nvCxnSpPr>
        <p:spPr>
          <a:xfrm flipH="1">
            <a:off x="5242785" y="5663141"/>
            <a:ext cx="19980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re 1">
            <a:extLst>
              <a:ext uri="{FF2B5EF4-FFF2-40B4-BE49-F238E27FC236}">
                <a16:creationId xmlns:a16="http://schemas.microsoft.com/office/drawing/2014/main" id="{09047200-4638-47A0-190B-BC340A8F7354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113335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FD7C-0488-4722-B08B-B9BED96E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20CA0908-0AC7-6F75-C22A-E13AEC2DA4CB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Utilisation dans un test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2957A6-91AE-EBB4-6697-F6B362985CCD}"/>
              </a:ext>
            </a:extLst>
          </p:cNvPr>
          <p:cNvSpPr txBox="1"/>
          <p:nvPr/>
        </p:nvSpPr>
        <p:spPr>
          <a:xfrm>
            <a:off x="2233204" y="2469701"/>
            <a:ext cx="6096001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test,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'./fixture'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dashboard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visible'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loggedPage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loggedPage.locator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'h1'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toContainText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'Dashboard'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2" name="Accolade fermante 1">
            <a:extLst>
              <a:ext uri="{FF2B5EF4-FFF2-40B4-BE49-F238E27FC236}">
                <a16:creationId xmlns:a16="http://schemas.microsoft.com/office/drawing/2014/main" id="{7C88CF8C-7795-7916-DF08-CE50CDC9E424}"/>
              </a:ext>
            </a:extLst>
          </p:cNvPr>
          <p:cNvSpPr/>
          <p:nvPr/>
        </p:nvSpPr>
        <p:spPr>
          <a:xfrm>
            <a:off x="6469626" y="3790673"/>
            <a:ext cx="108155" cy="1052051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A1EF5B-E1FF-DA29-E8D6-6B3E0AA1026F}"/>
              </a:ext>
            </a:extLst>
          </p:cNvPr>
          <p:cNvSpPr txBox="1"/>
          <p:nvPr/>
        </p:nvSpPr>
        <p:spPr>
          <a:xfrm>
            <a:off x="6715432" y="380763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On utilise la page </a:t>
            </a:r>
            <a:r>
              <a:rPr lang="fr-FR" dirty="0" err="1"/>
              <a:t>loggedPage</a:t>
            </a:r>
            <a:r>
              <a:rPr lang="fr-FR" dirty="0"/>
              <a:t> qui offre </a:t>
            </a:r>
          </a:p>
          <a:p>
            <a:r>
              <a:rPr lang="fr-FR" dirty="0"/>
              <a:t>un utilisateur connecté pour tester le texte du h1</a:t>
            </a:r>
          </a:p>
          <a:p>
            <a:r>
              <a:rPr lang="fr-FR" dirty="0"/>
              <a:t>de la page qui s’affiche</a:t>
            </a:r>
          </a:p>
        </p:txBody>
      </p: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536FCC39-D0EA-CA8E-3457-3B86C4BBB733}"/>
              </a:ext>
            </a:extLst>
          </p:cNvPr>
          <p:cNvSpPr/>
          <p:nvPr/>
        </p:nvSpPr>
        <p:spPr>
          <a:xfrm>
            <a:off x="6715432" y="2990779"/>
            <a:ext cx="108155" cy="68489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5D4663D-6499-D0C9-B31B-B24E6BD43C11}"/>
              </a:ext>
            </a:extLst>
          </p:cNvPr>
          <p:cNvSpPr txBox="1"/>
          <p:nvPr/>
        </p:nvSpPr>
        <p:spPr>
          <a:xfrm>
            <a:off x="6823587" y="29884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Utilisation de la page créée par la fixture (connecté)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4FF75C0C-9269-BC38-D6BD-F019BDDFC23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260406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90764FA-7104-01CC-5E54-EB3D1AA8D45F}"/>
              </a:ext>
            </a:extLst>
          </p:cNvPr>
          <p:cNvSpPr txBox="1"/>
          <p:nvPr/>
        </p:nvSpPr>
        <p:spPr>
          <a:xfrm>
            <a:off x="3835865" y="1899672"/>
            <a:ext cx="6096000" cy="172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test =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base.extend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baseAppUrl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({}, use)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'https://staging.app.com'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A514B2-A752-84B8-DD81-E2940F8A75C1}"/>
              </a:ext>
            </a:extLst>
          </p:cNvPr>
          <p:cNvSpPr txBox="1"/>
          <p:nvPr/>
        </p:nvSpPr>
        <p:spPr>
          <a:xfrm>
            <a:off x="3927305" y="4695737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baseAppUrl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382B75-FC30-DDFC-B17D-D806761E7C12}"/>
              </a:ext>
            </a:extLst>
          </p:cNvPr>
          <p:cNvSpPr txBox="1"/>
          <p:nvPr/>
        </p:nvSpPr>
        <p:spPr>
          <a:xfrm>
            <a:off x="3314756" y="39714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Utilisation</a:t>
            </a: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54A38A06-D4F0-0D95-4D02-B018ECF47AE5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Fixture plus simple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CFFC003-11DC-ACA2-5CDB-67FBBF80CCD3}"/>
              </a:ext>
            </a:extLst>
          </p:cNvPr>
          <p:cNvSpPr txBox="1"/>
          <p:nvPr/>
        </p:nvSpPr>
        <p:spPr>
          <a:xfrm>
            <a:off x="3314756" y="11098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Création d’un URL utilisable dans tous les tests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5BB8A1FB-38CD-E3C7-DC41-D1BCEFC49CF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309626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5A12-28AC-1DB6-7A03-B6CD76A7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C9621EF-86D2-D16F-1E07-C154E4005D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DCAAD7-359D-3DA8-4AAE-D1BE94963DCF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071DE35-6F08-565D-BB8A-6EEE30323979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413FD28F-50D6-DA73-96F8-F2302E8486EA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418DBBE5-E5BD-C89B-8410-23F5637BEE67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6B50C3E6-C692-E5F8-EC1D-D2F97BCAB613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D93F6C56-C561-910F-B644-0819E3A5CAC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1C9E8EAF-6B44-EF35-A3E8-C69AC295B2F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A227FFDC-D989-28D4-1E90-946E0B7D8B01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6ED4E58A-796A-E6DE-1456-4224343D34E8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Fixture connexion et utilisation</a:t>
            </a:r>
            <a:endParaRPr lang="fr-FR" sz="20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2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64A2-C6BD-C084-8798-6BBDA71E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DFAE57-E4F1-D99A-D9A2-A100DBBAA0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C4A17D6-89F3-11C3-7D4F-A4EDD99BD26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TRAVAUX PRATIQUES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776A3841-87DF-CAC2-0EB7-29CFAF318D7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6BE2E1FE-776F-5879-8E6A-0ED9C62CA2C2}"/>
              </a:ext>
            </a:extLst>
          </p:cNvPr>
          <p:cNvGrpSpPr/>
          <p:nvPr/>
        </p:nvGrpSpPr>
        <p:grpSpPr>
          <a:xfrm>
            <a:off x="-1" y="0"/>
            <a:ext cx="3667688" cy="6858001"/>
            <a:chOff x="-1" y="0"/>
            <a:chExt cx="4292084" cy="6858001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AED9F4B7-08CA-4A1A-BED9-7155DE319483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95B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Triangle rectangle 10">
              <a:extLst>
                <a:ext uri="{FF2B5EF4-FFF2-40B4-BE49-F238E27FC236}">
                  <a16:creationId xmlns:a16="http://schemas.microsoft.com/office/drawing/2014/main" id="{ADA8714D-49C1-931A-A488-B0103DEB868D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Triangle rectangle 11">
              <a:extLst>
                <a:ext uri="{FF2B5EF4-FFF2-40B4-BE49-F238E27FC236}">
                  <a16:creationId xmlns:a16="http://schemas.microsoft.com/office/drawing/2014/main" id="{651D4432-4BA3-199B-812E-3FB8EFE39F62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1D303691-1000-8F91-B28E-208BF604D999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TRAVAUX PRATIQUES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D9535CD1-D3E4-43B0-8F31-7FFA52B3646E}"/>
              </a:ext>
            </a:extLst>
          </p:cNvPr>
          <p:cNvSpPr txBox="1">
            <a:spLocks/>
          </p:cNvSpPr>
          <p:nvPr/>
        </p:nvSpPr>
        <p:spPr>
          <a:xfrm>
            <a:off x="4021872" y="2699281"/>
            <a:ext cx="781594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TP fixture sauce </a:t>
            </a:r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partie 1</a:t>
            </a:r>
          </a:p>
        </p:txBody>
      </p:sp>
    </p:spTree>
    <p:extLst>
      <p:ext uri="{BB962C8B-B14F-4D97-AF65-F5344CB8AC3E}">
        <p14:creationId xmlns:p14="http://schemas.microsoft.com/office/powerpoint/2010/main" val="34672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9C973-5610-1BA0-A4E9-B13F9122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DC4BBC-CCDD-775A-A0C7-E8F864B79D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8AA389FC-9CD7-B6AB-7120-28F5B0E156A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6C6707A-EAD8-A860-23A4-B7FC8D794B39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JMETER</a:t>
            </a: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LISTENERS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6C8DEC9C-7920-9390-1A23-29B33AA1CD26}"/>
              </a:ext>
            </a:extLst>
          </p:cNvPr>
          <p:cNvSpPr txBox="1">
            <a:spLocks/>
          </p:cNvSpPr>
          <p:nvPr/>
        </p:nvSpPr>
        <p:spPr>
          <a:xfrm>
            <a:off x="3650540" y="2875002"/>
            <a:ext cx="11483629" cy="1236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dirty="0"/>
              <a:t>POM </a:t>
            </a:r>
          </a:p>
          <a:p>
            <a:r>
              <a:rPr lang="fr-FR" sz="4000" dirty="0"/>
              <a:t>(Page </a:t>
            </a:r>
            <a:r>
              <a:rPr lang="fr-FR" sz="4000" dirty="0" err="1"/>
              <a:t>object</a:t>
            </a:r>
            <a:r>
              <a:rPr lang="fr-FR" sz="4000" dirty="0"/>
              <a:t> </a:t>
            </a:r>
            <a:r>
              <a:rPr lang="fr-FR" sz="4000" dirty="0" err="1"/>
              <a:t>models</a:t>
            </a:r>
            <a:r>
              <a:rPr lang="fr-FR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47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A27CAFD-BDEE-E53D-45D9-536FB0C0643C}"/>
              </a:ext>
            </a:extLst>
          </p:cNvPr>
          <p:cNvSpPr txBox="1"/>
          <p:nvPr/>
        </p:nvSpPr>
        <p:spPr>
          <a:xfrm>
            <a:off x="3048000" y="631670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Idée principale</a:t>
            </a:r>
          </a:p>
          <a:p>
            <a:pPr>
              <a:buNone/>
            </a:pPr>
            <a:r>
              <a:rPr lang="fr-FR" dirty="0"/>
              <a:t>Chaque page devient une classe contenant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 Les sélecteurs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 Les actions utilisateur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 Les comportements métier</a:t>
            </a:r>
          </a:p>
        </p:txBody>
      </p:sp>
      <p:sp>
        <p:nvSpPr>
          <p:cNvPr id="4" name="Espace réservé du texte 19">
            <a:extLst>
              <a:ext uri="{FF2B5EF4-FFF2-40B4-BE49-F238E27FC236}">
                <a16:creationId xmlns:a16="http://schemas.microsoft.com/office/drawing/2014/main" id="{42EFEEC1-DA27-7085-9EF0-81642C6EB48C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Principe </a:t>
            </a:r>
          </a:p>
          <a:p>
            <a:r>
              <a:rPr lang="fr-FR" dirty="0">
                <a:solidFill>
                  <a:srgbClr val="3B518E"/>
                </a:solidFill>
              </a:rPr>
              <a:t>du POM (Page Object Model)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8607D94-0D50-36EB-1F02-9126C8B2B0C0}"/>
              </a:ext>
            </a:extLst>
          </p:cNvPr>
          <p:cNvSpPr txBox="1"/>
          <p:nvPr/>
        </p:nvSpPr>
        <p:spPr>
          <a:xfrm>
            <a:off x="8592113" y="4872113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Avantages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 Réutilisation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 Lisibilité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 Maintenance simplifiée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9DC3A81-FF59-A832-738A-B43DA6D82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168" y="2346237"/>
            <a:ext cx="3080202" cy="354532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FAD43F2-5BAA-0EA7-9B68-20B45625E4F3}"/>
              </a:ext>
            </a:extLst>
          </p:cNvPr>
          <p:cNvSpPr txBox="1"/>
          <p:nvPr/>
        </p:nvSpPr>
        <p:spPr>
          <a:xfrm>
            <a:off x="3561269" y="36136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Architecture :</a:t>
            </a:r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53F29A38-0D39-79F2-9CBD-EF73EB92CB7F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25679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19D9A9E-AE7C-42E9-49E6-62C6140CC829}"/>
              </a:ext>
            </a:extLst>
          </p:cNvPr>
          <p:cNvSpPr txBox="1"/>
          <p:nvPr/>
        </p:nvSpPr>
        <p:spPr>
          <a:xfrm>
            <a:off x="2929486" y="2326995"/>
            <a:ext cx="6458371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Page }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/test'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page: Page) {}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'https://app.com'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login(email: string,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string)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.page.fill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'#email'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.page.fill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.page.click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'#login-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19">
            <a:extLst>
              <a:ext uri="{FF2B5EF4-FFF2-40B4-BE49-F238E27FC236}">
                <a16:creationId xmlns:a16="http://schemas.microsoft.com/office/drawing/2014/main" id="{5FF2F45C-ED60-7D6D-244C-167ABC1A357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Exemple de Page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BAE7C2-40A1-7669-14DB-9E64BCC7FD2F}"/>
              </a:ext>
            </a:extLst>
          </p:cNvPr>
          <p:cNvSpPr txBox="1"/>
          <p:nvPr/>
        </p:nvSpPr>
        <p:spPr>
          <a:xfrm>
            <a:off x="3344250" y="770169"/>
            <a:ext cx="81398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/>
              <a:t>Page </a:t>
            </a:r>
            <a:r>
              <a:rPr lang="fr-FR" sz="2400" b="1" dirty="0" err="1"/>
              <a:t>login.spec.ts</a:t>
            </a:r>
            <a:endParaRPr lang="fr-FR" sz="2400" b="1" dirty="0"/>
          </a:p>
          <a:p>
            <a:pPr>
              <a:buNone/>
            </a:pPr>
            <a:r>
              <a:rPr lang="fr-FR" sz="2000" dirty="0"/>
              <a:t>Création des fonctions nécessaire pour la manipulation de la page de login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65CD0BE-263D-9976-4FA7-F5353D4628F6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  <p:sp>
        <p:nvSpPr>
          <p:cNvPr id="2" name="Accolade fermante 1">
            <a:extLst>
              <a:ext uri="{FF2B5EF4-FFF2-40B4-BE49-F238E27FC236}">
                <a16:creationId xmlns:a16="http://schemas.microsoft.com/office/drawing/2014/main" id="{062F0AE8-A354-7F53-D10D-2BA3CE10070F}"/>
              </a:ext>
            </a:extLst>
          </p:cNvPr>
          <p:cNvSpPr/>
          <p:nvPr/>
        </p:nvSpPr>
        <p:spPr>
          <a:xfrm>
            <a:off x="9289534" y="4349848"/>
            <a:ext cx="98323" cy="131562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5393202-1347-4C98-543F-AC6FF7222A4F}"/>
              </a:ext>
            </a:extLst>
          </p:cNvPr>
          <p:cNvSpPr txBox="1"/>
          <p:nvPr/>
        </p:nvSpPr>
        <p:spPr>
          <a:xfrm>
            <a:off x="9566647" y="3429000"/>
            <a:ext cx="26253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dirty="0"/>
              <a:t>Fonction de redirection vers le site</a:t>
            </a:r>
            <a:endParaRPr lang="fr-FR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E80CA74-D735-F86A-6F3B-01499D616CDE}"/>
              </a:ext>
            </a:extLst>
          </p:cNvPr>
          <p:cNvCxnSpPr>
            <a:cxnSpLocks/>
          </p:cNvCxnSpPr>
          <p:nvPr/>
        </p:nvCxnSpPr>
        <p:spPr>
          <a:xfrm>
            <a:off x="8659906" y="3859306"/>
            <a:ext cx="7279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FF4FCBB-00BD-86D0-9A05-6537FB98C3A1}"/>
              </a:ext>
            </a:extLst>
          </p:cNvPr>
          <p:cNvSpPr txBox="1"/>
          <p:nvPr/>
        </p:nvSpPr>
        <p:spPr>
          <a:xfrm>
            <a:off x="9566647" y="4567192"/>
            <a:ext cx="2420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dirty="0"/>
              <a:t>Fonction de connexion sur le site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684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9">
            <a:extLst>
              <a:ext uri="{FF2B5EF4-FFF2-40B4-BE49-F238E27FC236}">
                <a16:creationId xmlns:a16="http://schemas.microsoft.com/office/drawing/2014/main" id="{6A00312A-B94C-DE5C-53C8-6AF169524FA0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Utilisation dans un test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0191274-C9C1-83FE-839F-C45C0D0D423B}"/>
              </a:ext>
            </a:extLst>
          </p:cNvPr>
          <p:cNvSpPr txBox="1"/>
          <p:nvPr/>
        </p:nvSpPr>
        <p:spPr>
          <a:xfrm>
            <a:off x="3225622" y="1388788"/>
            <a:ext cx="6096000" cy="5133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test }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/test'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'../pages/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LoginPage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'login user ok'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page })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(page);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loginPage.login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'admin@test.com'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'123456'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test(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'login user ko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wrong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password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({ page })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loginPage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LoginPage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(page);</a:t>
            </a:r>
          </a:p>
          <a:p>
            <a:pPr>
              <a:lnSpc>
                <a:spcPts val="1425"/>
              </a:lnSpc>
              <a:buNone/>
            </a:pPr>
            <a:b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loginPage.goto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loginPage.login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'admin@test.com'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‘ABCDEF'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Accolade fermante 4">
            <a:extLst>
              <a:ext uri="{FF2B5EF4-FFF2-40B4-BE49-F238E27FC236}">
                <a16:creationId xmlns:a16="http://schemas.microsoft.com/office/drawing/2014/main" id="{F91C4DCA-68A1-051A-BDA2-F626706551E2}"/>
              </a:ext>
            </a:extLst>
          </p:cNvPr>
          <p:cNvSpPr/>
          <p:nvPr/>
        </p:nvSpPr>
        <p:spPr>
          <a:xfrm>
            <a:off x="9212823" y="2045111"/>
            <a:ext cx="196645" cy="191059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1ED59399-7B9F-166F-F1CD-0883AAFEDC1D}"/>
              </a:ext>
            </a:extLst>
          </p:cNvPr>
          <p:cNvSpPr/>
          <p:nvPr/>
        </p:nvSpPr>
        <p:spPr>
          <a:xfrm>
            <a:off x="9212824" y="4222955"/>
            <a:ext cx="196645" cy="207952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2C5226-525F-4A28-329A-19DEDC0B448A}"/>
              </a:ext>
            </a:extLst>
          </p:cNvPr>
          <p:cNvSpPr txBox="1"/>
          <p:nvPr/>
        </p:nvSpPr>
        <p:spPr>
          <a:xfrm>
            <a:off x="9556954" y="224635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Test 1 :</a:t>
            </a:r>
          </a:p>
          <a:p>
            <a:pPr>
              <a:buNone/>
            </a:pPr>
            <a:r>
              <a:rPr lang="fr-FR" dirty="0"/>
              <a:t>Se connecter avec des </a:t>
            </a:r>
          </a:p>
          <a:p>
            <a:pPr>
              <a:buNone/>
            </a:pPr>
            <a:r>
              <a:rPr lang="fr-FR" dirty="0"/>
              <a:t>identifiants </a:t>
            </a:r>
            <a:r>
              <a:rPr lang="fr-FR" b="1" dirty="0"/>
              <a:t>corrects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45B766C-FC9B-C3CA-7684-BC1608A4DF63}"/>
              </a:ext>
            </a:extLst>
          </p:cNvPr>
          <p:cNvSpPr txBox="1"/>
          <p:nvPr/>
        </p:nvSpPr>
        <p:spPr>
          <a:xfrm>
            <a:off x="9556954" y="453355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b="1" dirty="0"/>
              <a:t>Test 2 :</a:t>
            </a:r>
          </a:p>
          <a:p>
            <a:pPr>
              <a:buNone/>
            </a:pPr>
            <a:r>
              <a:rPr lang="fr-FR" dirty="0"/>
              <a:t>Se connecter avec des </a:t>
            </a:r>
          </a:p>
          <a:p>
            <a:pPr>
              <a:buNone/>
            </a:pPr>
            <a:r>
              <a:rPr lang="fr-FR" dirty="0"/>
              <a:t>identifiants </a:t>
            </a:r>
            <a:r>
              <a:rPr lang="fr-FR" b="1" dirty="0"/>
              <a:t>incorrects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7552DEEA-FDC9-5C2F-21D9-F561EE78FDF3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123134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3CC9-4902-DB8F-19BA-BD073AA6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A3F68E3-1E3B-C09C-682F-1874FD0975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CB1A9E9-36A3-AF56-AB7C-3F535123328C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61BF2DA-6E50-5CCE-3BE1-8758409FE9D9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917EC2CA-E5AD-31E2-E49C-B22866FD6531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FD8CCE8A-EE4E-ABE7-BC51-6E4B8AE4B280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0DE4F287-270D-4149-ACF0-283CD02854E8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35984FB4-E2CA-927D-7952-269973E03B68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DB4D45D5-3F6A-7AD8-927B-524E2B20A77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F401BD12-5641-B80F-7E0C-F65CC9D1F5DF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64C06C96-B45A-4C10-E082-778B215AFA05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Mise en œuvre du POM</a:t>
            </a:r>
            <a:endParaRPr lang="fr-FR" sz="20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6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1CE3-91BB-0D71-6AD8-5992B255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5F913F-6DF7-C450-72BC-3FB986AD6F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3B14E05-D0F5-30B3-278C-E993AE150BA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TRAVAUX PRATIQUES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A42DDE59-402E-5377-D82A-F4B04F00A9F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2CA7470E-4E6D-DFC4-94DE-B03C38BD61EE}"/>
              </a:ext>
            </a:extLst>
          </p:cNvPr>
          <p:cNvGrpSpPr/>
          <p:nvPr/>
        </p:nvGrpSpPr>
        <p:grpSpPr>
          <a:xfrm>
            <a:off x="-1" y="0"/>
            <a:ext cx="3667688" cy="6858001"/>
            <a:chOff x="-1" y="0"/>
            <a:chExt cx="4292084" cy="6858001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A76C1DB0-4BBE-2F6F-7522-BADFFAC8517D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95B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Triangle rectangle 10">
              <a:extLst>
                <a:ext uri="{FF2B5EF4-FFF2-40B4-BE49-F238E27FC236}">
                  <a16:creationId xmlns:a16="http://schemas.microsoft.com/office/drawing/2014/main" id="{001FBAAE-05BE-84FD-F5B9-A23F083EDA73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Triangle rectangle 11">
              <a:extLst>
                <a:ext uri="{FF2B5EF4-FFF2-40B4-BE49-F238E27FC236}">
                  <a16:creationId xmlns:a16="http://schemas.microsoft.com/office/drawing/2014/main" id="{CB02DA09-B7E2-B80D-B9DF-65F5A8E55CE8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9CD8D521-8CEC-A6BD-7BFE-A9FB72489B56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TRAVAUX PRATIQUES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0F39EF6C-FC92-7392-2F56-DF6E13C74DD8}"/>
              </a:ext>
            </a:extLst>
          </p:cNvPr>
          <p:cNvSpPr txBox="1">
            <a:spLocks/>
          </p:cNvSpPr>
          <p:nvPr/>
        </p:nvSpPr>
        <p:spPr>
          <a:xfrm>
            <a:off x="4021872" y="2699281"/>
            <a:ext cx="781594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TP POM sauce </a:t>
            </a:r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partie 2</a:t>
            </a:r>
          </a:p>
        </p:txBody>
      </p:sp>
    </p:spTree>
    <p:extLst>
      <p:ext uri="{BB962C8B-B14F-4D97-AF65-F5344CB8AC3E}">
        <p14:creationId xmlns:p14="http://schemas.microsoft.com/office/powerpoint/2010/main" val="382592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385F-2AE4-4780-00E7-77612AAC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A139558-257A-B627-830D-E5F748D68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E0BF644-2E48-2722-3C2C-20E35269B7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7780"/>
          <a:stretch/>
        </p:blipFill>
        <p:spPr>
          <a:xfrm>
            <a:off x="1" y="0"/>
            <a:ext cx="3470988" cy="6858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1B192C3B-6347-DED6-20DF-9BF9A660C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657" y="5704514"/>
            <a:ext cx="831820" cy="8318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A803ADF7-C10D-0BBB-A5B7-7DDA4A43D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3470987" cy="3470987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2F1B75E8-1B5F-1C08-DB90-63A5FDB132B9}"/>
              </a:ext>
            </a:extLst>
          </p:cNvPr>
          <p:cNvSpPr txBox="1">
            <a:spLocks/>
          </p:cNvSpPr>
          <p:nvPr/>
        </p:nvSpPr>
        <p:spPr>
          <a:xfrm>
            <a:off x="3470989" y="3318644"/>
            <a:ext cx="8644932" cy="206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Playwright</a:t>
            </a:r>
            <a:br>
              <a:rPr lang="fr-FR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fr-FR" dirty="0">
                <a:solidFill>
                  <a:srgbClr val="AAD23B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M04 - Fonctionnalités avancées &amp; Intégrations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924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9B55-BE99-F73D-9FF8-08415CDC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210AB2-9834-C976-1846-7367C877EA7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E3EF6281-2ECE-3730-796D-3457CD1F929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18EBC30-6159-4895-AB90-333DA3276F8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C0CE1E5E-436E-DC7B-CAFA-59BC55D24C3F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1347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CI / CD</a:t>
            </a:r>
          </a:p>
          <a:p>
            <a:pPr algn="ctr"/>
            <a:r>
              <a:rPr lang="fr-FR" sz="4400" dirty="0"/>
              <a:t>GitHub Actions</a:t>
            </a:r>
          </a:p>
        </p:txBody>
      </p:sp>
    </p:spTree>
    <p:extLst>
      <p:ext uri="{BB962C8B-B14F-4D97-AF65-F5344CB8AC3E}">
        <p14:creationId xmlns:p14="http://schemas.microsoft.com/office/powerpoint/2010/main" val="61920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9">
            <a:extLst>
              <a:ext uri="{FF2B5EF4-FFF2-40B4-BE49-F238E27FC236}">
                <a16:creationId xmlns:a16="http://schemas.microsoft.com/office/drawing/2014/main" id="{E6908D71-6B2C-F30A-C656-82347E259F2F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Intégrer </a:t>
            </a:r>
            <a:r>
              <a:rPr lang="fr-FR" dirty="0" err="1">
                <a:solidFill>
                  <a:srgbClr val="3B518E"/>
                </a:solidFill>
              </a:rPr>
              <a:t>Playwright</a:t>
            </a:r>
            <a:r>
              <a:rPr lang="fr-FR" dirty="0">
                <a:solidFill>
                  <a:srgbClr val="3B518E"/>
                </a:solidFill>
              </a:rPr>
              <a:t> avec GitHub Actions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866A60-7F90-5FA5-DD4C-8A2FB89327FC}"/>
              </a:ext>
            </a:extLst>
          </p:cNvPr>
          <p:cNvSpPr txBox="1"/>
          <p:nvPr/>
        </p:nvSpPr>
        <p:spPr>
          <a:xfrm>
            <a:off x="3854244" y="463059"/>
            <a:ext cx="66859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fr-FR" b="1" dirty="0"/>
              <a:t>Lors de la création du projet :</a:t>
            </a:r>
          </a:p>
          <a:p>
            <a:pPr rtl="0">
              <a:buNone/>
            </a:pPr>
            <a:r>
              <a:rPr lang="fr-FR" dirty="0"/>
              <a:t>	GitHub Actions → Yes</a:t>
            </a:r>
          </a:p>
          <a:p>
            <a:pPr>
              <a:buNone/>
            </a:pPr>
            <a:r>
              <a:rPr lang="fr-FR" dirty="0"/>
              <a:t>En choisissant Yes, GitHub Actions est généré automatiquement.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D8E8D2F-342C-5C1C-82EA-6966043B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012"/>
          <a:stretch>
            <a:fillRect/>
          </a:stretch>
        </p:blipFill>
        <p:spPr>
          <a:xfrm>
            <a:off x="5467244" y="2062890"/>
            <a:ext cx="1867621" cy="302937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AB65DAD-1BB4-9030-A37C-183B880B9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480" y="3369714"/>
            <a:ext cx="1153272" cy="1101478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93C3CC31-71BD-00FE-BCBF-864BD1F85BA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 / CD : GitHub Actions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2605953-8E18-6A41-01B3-2202FB562D77}"/>
              </a:ext>
            </a:extLst>
          </p:cNvPr>
          <p:cNvSpPr txBox="1"/>
          <p:nvPr/>
        </p:nvSpPr>
        <p:spPr>
          <a:xfrm>
            <a:off x="3854244" y="1596898"/>
            <a:ext cx="3038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fr-FR" b="1" dirty="0"/>
              <a:t>Création d’un fichier </a:t>
            </a:r>
            <a:r>
              <a:rPr lang="fr-FR" b="1" dirty="0" err="1"/>
              <a:t>yml</a:t>
            </a:r>
            <a:r>
              <a:rPr lang="fr-FR" b="1" dirty="0"/>
              <a:t>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69F43EE-6EA6-9AB2-74A7-1082C512AADA}"/>
              </a:ext>
            </a:extLst>
          </p:cNvPr>
          <p:cNvSpPr txBox="1"/>
          <p:nvPr/>
        </p:nvSpPr>
        <p:spPr>
          <a:xfrm>
            <a:off x="3854244" y="53759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Par défaut (définit dans le fichier </a:t>
            </a:r>
            <a:r>
              <a:rPr lang="fr-FR" b="1" dirty="0" err="1"/>
              <a:t>yml</a:t>
            </a:r>
            <a:r>
              <a:rPr lang="fr-FR" b="1" dirty="0"/>
              <a:t>) les tests se lancent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à chaque </a:t>
            </a:r>
            <a:r>
              <a:rPr lang="fr-FR" dirty="0">
                <a:latin typeface="Courier New" panose="02070309020205020404" pitchFamily="49" charset="0"/>
              </a:rPr>
              <a:t>git push</a:t>
            </a:r>
            <a:r>
              <a:rPr lang="fr-F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à chaque Pull </a:t>
            </a:r>
            <a:r>
              <a:rPr lang="fr-FR" dirty="0" err="1"/>
              <a:t>Request</a:t>
            </a:r>
            <a:r>
              <a:rPr lang="fr-FR" dirty="0"/>
              <a:t> (fusion de </a:t>
            </a:r>
            <a:r>
              <a:rPr lang="fr-FR" dirty="0" err="1"/>
              <a:t>branch</a:t>
            </a:r>
            <a:r>
              <a:rPr lang="fr-FR" dirty="0"/>
              <a:t>)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2207CD0-27A8-7C69-EF56-84613DD22596}"/>
              </a:ext>
            </a:extLst>
          </p:cNvPr>
          <p:cNvSpPr/>
          <p:nvPr/>
        </p:nvSpPr>
        <p:spPr>
          <a:xfrm>
            <a:off x="5644225" y="2522551"/>
            <a:ext cx="1454665" cy="3484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06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F6A831D-02C4-6A80-8B29-681EE5FBCE46}"/>
              </a:ext>
            </a:extLst>
          </p:cNvPr>
          <p:cNvSpPr txBox="1"/>
          <p:nvPr/>
        </p:nvSpPr>
        <p:spPr>
          <a:xfrm>
            <a:off x="5565057" y="2894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 nom affiché dans l’onglet Actions de GitHub.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336F47-87C6-20CC-AE36-A626E3A5A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73"/>
          <a:stretch>
            <a:fillRect/>
          </a:stretch>
        </p:blipFill>
        <p:spPr>
          <a:xfrm>
            <a:off x="899653" y="312174"/>
            <a:ext cx="4478106" cy="6056671"/>
          </a:xfrm>
          <a:prstGeom prst="rect">
            <a:avLst/>
          </a:prstGeom>
        </p:spPr>
      </p:pic>
      <p:sp>
        <p:nvSpPr>
          <p:cNvPr id="5" name="Accolade fermante 4">
            <a:extLst>
              <a:ext uri="{FF2B5EF4-FFF2-40B4-BE49-F238E27FC236}">
                <a16:creationId xmlns:a16="http://schemas.microsoft.com/office/drawing/2014/main" id="{B4BCB2E2-5F91-1535-7547-F3E631E84EA0}"/>
              </a:ext>
            </a:extLst>
          </p:cNvPr>
          <p:cNvSpPr/>
          <p:nvPr/>
        </p:nvSpPr>
        <p:spPr>
          <a:xfrm>
            <a:off x="5377760" y="808167"/>
            <a:ext cx="194672" cy="825909"/>
          </a:xfrm>
          <a:prstGeom prst="rightBrace">
            <a:avLst>
              <a:gd name="adj1" fmla="val 8333"/>
              <a:gd name="adj2" fmla="val 4761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4246498-8E76-3F09-0283-16642C9D6006}"/>
              </a:ext>
            </a:extLst>
          </p:cNvPr>
          <p:cNvSpPr txBox="1"/>
          <p:nvPr/>
        </p:nvSpPr>
        <p:spPr>
          <a:xfrm>
            <a:off x="5565057" y="884874"/>
            <a:ext cx="657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Définit QUAND le workflow doit se lancer. </a:t>
            </a:r>
          </a:p>
          <a:p>
            <a:r>
              <a:rPr lang="fr-FR" dirty="0"/>
              <a:t>Déclenchement sur push et pull </a:t>
            </a:r>
            <a:r>
              <a:rPr lang="fr-FR" dirty="0" err="1"/>
              <a:t>request</a:t>
            </a:r>
            <a:r>
              <a:rPr lang="fr-FR" dirty="0"/>
              <a:t> sur le main et le master.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F272587-EC12-5A99-423C-589911B7BE4A}"/>
              </a:ext>
            </a:extLst>
          </p:cNvPr>
          <p:cNvSpPr txBox="1"/>
          <p:nvPr/>
        </p:nvSpPr>
        <p:spPr>
          <a:xfrm>
            <a:off x="5557683" y="1820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GitHub stoppe automatiquement le job après 60 minutes.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92A0F30-B198-62B8-E347-0AEACDA542AC}"/>
              </a:ext>
            </a:extLst>
          </p:cNvPr>
          <p:cNvSpPr txBox="1"/>
          <p:nvPr/>
        </p:nvSpPr>
        <p:spPr>
          <a:xfrm>
            <a:off x="5557683" y="21266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GitHub crée une machine Linux Ubuntu.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EB3CE09-F8E1-946E-7DC3-7A0821CB515F}"/>
              </a:ext>
            </a:extLst>
          </p:cNvPr>
          <p:cNvSpPr txBox="1"/>
          <p:nvPr/>
        </p:nvSpPr>
        <p:spPr>
          <a:xfrm>
            <a:off x="5557683" y="25980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GitHub clone ton dépôt dans la machine virtuelle. </a:t>
            </a:r>
          </a:p>
          <a:p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FDB24B1-F1D2-705F-D33A-41A6B8209097}"/>
              </a:ext>
            </a:extLst>
          </p:cNvPr>
          <p:cNvSpPr txBox="1"/>
          <p:nvPr/>
        </p:nvSpPr>
        <p:spPr>
          <a:xfrm>
            <a:off x="5557683" y="3606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Installe tous les packages du </a:t>
            </a:r>
            <a:r>
              <a:rPr lang="fr-FR" dirty="0">
                <a:latin typeface="Courier New" panose="02070309020205020404" pitchFamily="49" charset="0"/>
              </a:rPr>
              <a:t>package-</a:t>
            </a:r>
            <a:r>
              <a:rPr lang="fr-FR" dirty="0" err="1">
                <a:latin typeface="Courier New" panose="02070309020205020404" pitchFamily="49" charset="0"/>
              </a:rPr>
              <a:t>lock.json</a:t>
            </a:r>
            <a:endParaRPr lang="fr-FR" dirty="0"/>
          </a:p>
        </p:txBody>
      </p:sp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DFF1189F-D1E7-B11E-DF8D-A1C8838005D1}"/>
              </a:ext>
            </a:extLst>
          </p:cNvPr>
          <p:cNvSpPr/>
          <p:nvPr/>
        </p:nvSpPr>
        <p:spPr>
          <a:xfrm>
            <a:off x="5412657" y="2943084"/>
            <a:ext cx="178953" cy="563666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ccolade fermante 17">
            <a:extLst>
              <a:ext uri="{FF2B5EF4-FFF2-40B4-BE49-F238E27FC236}">
                <a16:creationId xmlns:a16="http://schemas.microsoft.com/office/drawing/2014/main" id="{563F95B4-A50A-11F8-8AF4-1CCD6710FC19}"/>
              </a:ext>
            </a:extLst>
          </p:cNvPr>
          <p:cNvSpPr/>
          <p:nvPr/>
        </p:nvSpPr>
        <p:spPr>
          <a:xfrm>
            <a:off x="5439211" y="3592910"/>
            <a:ext cx="152400" cy="39742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ccolade fermante 18">
            <a:extLst>
              <a:ext uri="{FF2B5EF4-FFF2-40B4-BE49-F238E27FC236}">
                <a16:creationId xmlns:a16="http://schemas.microsoft.com/office/drawing/2014/main" id="{6F9BA90A-B2E6-E01D-7F88-E82AB3B04BEE}"/>
              </a:ext>
            </a:extLst>
          </p:cNvPr>
          <p:cNvSpPr/>
          <p:nvPr/>
        </p:nvSpPr>
        <p:spPr>
          <a:xfrm>
            <a:off x="5405283" y="4409597"/>
            <a:ext cx="152400" cy="39742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ccolade fermante 19">
            <a:extLst>
              <a:ext uri="{FF2B5EF4-FFF2-40B4-BE49-F238E27FC236}">
                <a16:creationId xmlns:a16="http://schemas.microsoft.com/office/drawing/2014/main" id="{D0785186-4866-2990-04F7-54B9DE43790E}"/>
              </a:ext>
            </a:extLst>
          </p:cNvPr>
          <p:cNvSpPr/>
          <p:nvPr/>
        </p:nvSpPr>
        <p:spPr>
          <a:xfrm>
            <a:off x="5420031" y="3990335"/>
            <a:ext cx="152400" cy="39742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885AEEF-46FC-6E99-8A5D-268BB3B5C08D}"/>
              </a:ext>
            </a:extLst>
          </p:cNvPr>
          <p:cNvSpPr txBox="1"/>
          <p:nvPr/>
        </p:nvSpPr>
        <p:spPr>
          <a:xfrm>
            <a:off x="5557683" y="3075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Installe Node.js sur la machine (en LTS)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3C3B121-4E7D-5B74-C04F-88A32DBDA3E6}"/>
              </a:ext>
            </a:extLst>
          </p:cNvPr>
          <p:cNvSpPr txBox="1"/>
          <p:nvPr/>
        </p:nvSpPr>
        <p:spPr>
          <a:xfrm>
            <a:off x="5565057" y="40184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Installe les navigateurs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F6EA817-882F-3587-BC25-F9872038B4DB}"/>
              </a:ext>
            </a:extLst>
          </p:cNvPr>
          <p:cNvSpPr txBox="1"/>
          <p:nvPr/>
        </p:nvSpPr>
        <p:spPr>
          <a:xfrm>
            <a:off x="5557683" y="43877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Exécute tous les tests </a:t>
            </a:r>
            <a:r>
              <a:rPr lang="fr-FR" dirty="0" err="1"/>
              <a:t>Playwright</a:t>
            </a:r>
            <a:r>
              <a:rPr lang="fr-FR" dirty="0"/>
              <a:t>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5780166-B68D-B6B7-277B-E9055FCB2E07}"/>
              </a:ext>
            </a:extLst>
          </p:cNvPr>
          <p:cNvSpPr txBox="1"/>
          <p:nvPr/>
        </p:nvSpPr>
        <p:spPr>
          <a:xfrm>
            <a:off x="5557683" y="53695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Upload</a:t>
            </a:r>
            <a:r>
              <a:rPr lang="fr-FR" dirty="0"/>
              <a:t> du rapport.</a:t>
            </a:r>
          </a:p>
        </p:txBody>
      </p:sp>
      <p:sp>
        <p:nvSpPr>
          <p:cNvPr id="32" name="Accolade fermante 31">
            <a:extLst>
              <a:ext uri="{FF2B5EF4-FFF2-40B4-BE49-F238E27FC236}">
                <a16:creationId xmlns:a16="http://schemas.microsoft.com/office/drawing/2014/main" id="{A0641678-01D9-A743-ECA3-89D6B31B107E}"/>
              </a:ext>
            </a:extLst>
          </p:cNvPr>
          <p:cNvSpPr/>
          <p:nvPr/>
        </p:nvSpPr>
        <p:spPr>
          <a:xfrm>
            <a:off x="5431577" y="4856504"/>
            <a:ext cx="126106" cy="1281156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itre 1">
            <a:extLst>
              <a:ext uri="{FF2B5EF4-FFF2-40B4-BE49-F238E27FC236}">
                <a16:creationId xmlns:a16="http://schemas.microsoft.com/office/drawing/2014/main" id="{58A3B95A-7B02-C927-8279-DEEE5B62DE2D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 / CD :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383556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19">
            <a:extLst>
              <a:ext uri="{FF2B5EF4-FFF2-40B4-BE49-F238E27FC236}">
                <a16:creationId xmlns:a16="http://schemas.microsoft.com/office/drawing/2014/main" id="{2162C06F-3366-0FA7-2A0F-2318D5210402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Intégrer </a:t>
            </a:r>
            <a:r>
              <a:rPr lang="fr-FR" dirty="0" err="1">
                <a:solidFill>
                  <a:srgbClr val="3B518E"/>
                </a:solidFill>
              </a:rPr>
              <a:t>Playwright</a:t>
            </a:r>
            <a:r>
              <a:rPr lang="fr-FR" dirty="0">
                <a:solidFill>
                  <a:srgbClr val="3B518E"/>
                </a:solidFill>
              </a:rPr>
              <a:t> avec GitHub Actions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B138599-9017-A022-3E11-7BE02603B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80" y="3369714"/>
            <a:ext cx="1153272" cy="1101478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C8097384-3BDD-B4C9-B1C3-D548A044974F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 / CD : GitHub Actions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66D404-1B41-D6DA-F66A-96F90DA1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860" y="927487"/>
            <a:ext cx="3029373" cy="155279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B6A1F86-5EB4-D2F2-9555-B444B792ED55}"/>
              </a:ext>
            </a:extLst>
          </p:cNvPr>
          <p:cNvSpPr txBox="1"/>
          <p:nvPr/>
        </p:nvSpPr>
        <p:spPr>
          <a:xfrm>
            <a:off x="3736257" y="3889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Création d’un repository sur </a:t>
            </a:r>
            <a:r>
              <a:rPr lang="fr-FR" dirty="0" err="1"/>
              <a:t>github</a:t>
            </a:r>
            <a:r>
              <a:rPr lang="fr-FR" dirty="0"/>
              <a:t>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32F1CEA-6055-FD2E-4DE7-DE6EB5C8D4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75" t="-25" r="44989" b="78953"/>
          <a:stretch>
            <a:fillRect/>
          </a:stretch>
        </p:blipFill>
        <p:spPr>
          <a:xfrm>
            <a:off x="4864138" y="2584653"/>
            <a:ext cx="4148358" cy="135899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BAC30C9-96BF-9774-4333-E18CE362FA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717" t="90726" r="2505"/>
          <a:stretch>
            <a:fillRect/>
          </a:stretch>
        </p:blipFill>
        <p:spPr>
          <a:xfrm>
            <a:off x="9718379" y="2870597"/>
            <a:ext cx="1696873" cy="598153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9735709B-1014-903C-DF8F-E984AA839A24}"/>
              </a:ext>
            </a:extLst>
          </p:cNvPr>
          <p:cNvSpPr/>
          <p:nvPr/>
        </p:nvSpPr>
        <p:spPr>
          <a:xfrm>
            <a:off x="9340644" y="3071352"/>
            <a:ext cx="285561" cy="196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angle droit 16">
            <a:extLst>
              <a:ext uri="{FF2B5EF4-FFF2-40B4-BE49-F238E27FC236}">
                <a16:creationId xmlns:a16="http://schemas.microsoft.com/office/drawing/2014/main" id="{F5EBE774-C7EE-D91D-6168-486C61340B3F}"/>
              </a:ext>
            </a:extLst>
          </p:cNvPr>
          <p:cNvSpPr/>
          <p:nvPr/>
        </p:nvSpPr>
        <p:spPr>
          <a:xfrm rot="5400000">
            <a:off x="4034905" y="2894584"/>
            <a:ext cx="412529" cy="33429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91953C-77FC-F81D-072A-D3F28E483A20}"/>
              </a:ext>
            </a:extLst>
          </p:cNvPr>
          <p:cNvSpPr txBox="1"/>
          <p:nvPr/>
        </p:nvSpPr>
        <p:spPr>
          <a:xfrm>
            <a:off x="3403344" y="421363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Connecter le projet à GitHub</a:t>
            </a:r>
          </a:p>
          <a:p>
            <a:pPr lvl="1"/>
            <a:r>
              <a:rPr lang="fr-FR" dirty="0"/>
              <a:t>git init</a:t>
            </a:r>
          </a:p>
          <a:p>
            <a:pPr lvl="1"/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*</a:t>
            </a:r>
          </a:p>
          <a:p>
            <a:pPr lvl="1"/>
            <a:r>
              <a:rPr lang="fr-FR" dirty="0"/>
              <a:t>git commit -m "first commit"</a:t>
            </a:r>
          </a:p>
          <a:p>
            <a:pPr lvl="1"/>
            <a:r>
              <a:rPr lang="fr-FR" dirty="0"/>
              <a:t>git </a:t>
            </a:r>
            <a:r>
              <a:rPr lang="fr-FR" dirty="0" err="1"/>
              <a:t>branch</a:t>
            </a:r>
            <a:r>
              <a:rPr lang="fr-FR" dirty="0"/>
              <a:t> -M main</a:t>
            </a:r>
          </a:p>
          <a:p>
            <a:pPr lvl="1"/>
            <a:r>
              <a:rPr lang="fr-FR" dirty="0"/>
              <a:t>git </a:t>
            </a:r>
            <a:r>
              <a:rPr lang="fr-FR" dirty="0" err="1"/>
              <a:t>remote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origin</a:t>
            </a:r>
            <a:r>
              <a:rPr lang="fr-FR" dirty="0"/>
              <a:t> https://github.com/enijdenis/testMonApplication.git</a:t>
            </a:r>
          </a:p>
          <a:p>
            <a:pPr lvl="1"/>
            <a:r>
              <a:rPr lang="fr-FR" dirty="0"/>
              <a:t>git push -u </a:t>
            </a:r>
            <a:r>
              <a:rPr lang="fr-FR" dirty="0" err="1"/>
              <a:t>origin</a:t>
            </a:r>
            <a:r>
              <a:rPr lang="fr-FR" dirty="0"/>
              <a:t> main</a:t>
            </a:r>
          </a:p>
        </p:txBody>
      </p:sp>
    </p:spTree>
    <p:extLst>
      <p:ext uri="{BB962C8B-B14F-4D97-AF65-F5344CB8AC3E}">
        <p14:creationId xmlns:p14="http://schemas.microsoft.com/office/powerpoint/2010/main" val="96960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F4373-7B35-A359-8DD2-8A34D6FD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44D227C-14D3-9DAF-B0AA-046A9F2D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14"/>
          <a:stretch>
            <a:fillRect/>
          </a:stretch>
        </p:blipFill>
        <p:spPr>
          <a:xfrm>
            <a:off x="1060357" y="1800371"/>
            <a:ext cx="6832534" cy="324937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3B41D4B3-BB69-61D2-8F13-16DDF8FD48AF}"/>
              </a:ext>
            </a:extLst>
          </p:cNvPr>
          <p:cNvSpPr/>
          <p:nvPr/>
        </p:nvSpPr>
        <p:spPr>
          <a:xfrm>
            <a:off x="3722486" y="4111592"/>
            <a:ext cx="1508276" cy="49482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5D31F8-69C6-87CA-5E2D-4DDD157DF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717" y="1974961"/>
            <a:ext cx="3645222" cy="427326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C2A03FD0-CD55-755B-CE27-BE34F5F699B9}"/>
              </a:ext>
            </a:extLst>
          </p:cNvPr>
          <p:cNvSpPr/>
          <p:nvPr/>
        </p:nvSpPr>
        <p:spPr>
          <a:xfrm>
            <a:off x="10299290" y="5771625"/>
            <a:ext cx="1283110" cy="47659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angle droit 10">
            <a:extLst>
              <a:ext uri="{FF2B5EF4-FFF2-40B4-BE49-F238E27FC236}">
                <a16:creationId xmlns:a16="http://schemas.microsoft.com/office/drawing/2014/main" id="{2FE155FF-CF7E-9D28-B87A-C0F2B2B28119}"/>
              </a:ext>
            </a:extLst>
          </p:cNvPr>
          <p:cNvSpPr/>
          <p:nvPr/>
        </p:nvSpPr>
        <p:spPr>
          <a:xfrm rot="5400000">
            <a:off x="7350556" y="4916068"/>
            <a:ext cx="638479" cy="90583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EA1E55E4-6C33-B786-EA76-A541F815ACB0}"/>
              </a:ext>
            </a:extLst>
          </p:cNvPr>
          <p:cNvSpPr txBox="1">
            <a:spLocks/>
          </p:cNvSpPr>
          <p:nvPr/>
        </p:nvSpPr>
        <p:spPr>
          <a:xfrm>
            <a:off x="236197" y="405982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Intégrer </a:t>
            </a:r>
            <a:r>
              <a:rPr lang="fr-FR" dirty="0" err="1">
                <a:solidFill>
                  <a:srgbClr val="3B518E"/>
                </a:solidFill>
              </a:rPr>
              <a:t>Playwright</a:t>
            </a:r>
            <a:r>
              <a:rPr lang="fr-FR" dirty="0">
                <a:solidFill>
                  <a:srgbClr val="3B518E"/>
                </a:solidFill>
              </a:rPr>
              <a:t> avec GitHub Actions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25065D59-8D61-AFF0-B042-F8A47819A19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 / CD :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336014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7DBB-F9BF-D5CF-AF9C-E6C3FC55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4CB4ED8E-20DF-0EA5-EBEE-7A76C3D08073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 / CD : GitHub Actions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CBC4024-B56E-9618-896C-0894B9F9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31" y="1295589"/>
            <a:ext cx="8042121" cy="3960281"/>
          </a:xfrm>
          <a:prstGeom prst="rect">
            <a:avLst/>
          </a:prstGeom>
        </p:spPr>
      </p:pic>
      <p:sp>
        <p:nvSpPr>
          <p:cNvPr id="9" name="Espace réservé du texte 19">
            <a:extLst>
              <a:ext uri="{FF2B5EF4-FFF2-40B4-BE49-F238E27FC236}">
                <a16:creationId xmlns:a16="http://schemas.microsoft.com/office/drawing/2014/main" id="{A419AB42-629F-6B53-62CA-C91F5C1C8428}"/>
              </a:ext>
            </a:extLst>
          </p:cNvPr>
          <p:cNvSpPr txBox="1">
            <a:spLocks/>
          </p:cNvSpPr>
          <p:nvPr/>
        </p:nvSpPr>
        <p:spPr>
          <a:xfrm>
            <a:off x="236197" y="1706301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Html report</a:t>
            </a:r>
          </a:p>
        </p:txBody>
      </p:sp>
    </p:spTree>
    <p:extLst>
      <p:ext uri="{BB962C8B-B14F-4D97-AF65-F5344CB8AC3E}">
        <p14:creationId xmlns:p14="http://schemas.microsoft.com/office/powerpoint/2010/main" val="406855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5E1F-C2ED-FA02-2F0C-C5B47CDC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827F6FA-703B-1352-CA50-3FCA769D48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83B9733-A7F4-01C5-B90C-527395867E0D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F84D0FF0-992D-628E-BDD9-013FD9662819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C98DC5DB-4687-40B6-646B-59E095BC9EE4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457A46D6-1D42-D030-18F7-66F389C4444E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0E102981-C885-4200-AB62-66A6CC04CE9B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8FFEDDA6-21CA-E758-C856-99EBE78F80F0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4B6BCBF8-F2F7-B702-B195-35FEA0BD4B0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9457A167-7D66-B62D-B4A1-32EF7B658924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5D2B8B2D-CC32-523B-D12E-A67486ACE15D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1218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Mise en place d’un projet sous </a:t>
            </a:r>
            <a:r>
              <a:rPr lang="fr-FR" sz="4400" b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github</a:t>
            </a:r>
            <a:endParaRPr lang="fr-FR" sz="44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00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5D10-8B09-2259-A72E-5927B34A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B38B8A-B4C6-8FCB-7256-BD922BAFB1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1C58D8AE-616F-AA28-6945-B3F8CAA0218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D11F0E5B-1A2A-89AE-18CF-C3929D05407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C094F2C1-1F13-3CEA-327B-287EE97241AA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11010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4569110-7251-0132-1523-C515E654850C}"/>
              </a:ext>
            </a:extLst>
          </p:cNvPr>
          <p:cNvSpPr txBox="1"/>
          <p:nvPr/>
        </p:nvSpPr>
        <p:spPr>
          <a:xfrm>
            <a:off x="3048000" y="672214"/>
            <a:ext cx="6096000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chromium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/test'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globalSetup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browser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chromium.launch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page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browser.newPage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'https://monsite.com/login'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page.fill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'#email'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'admin@test.com'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page.fill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'123456'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page.click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[type=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page.context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storageState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storageState.json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browser.close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globalSetup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FB0B92D-1AD8-2D06-0E3B-81E2A2B94585}"/>
              </a:ext>
            </a:extLst>
          </p:cNvPr>
          <p:cNvSpPr txBox="1"/>
          <p:nvPr/>
        </p:nvSpPr>
        <p:spPr>
          <a:xfrm>
            <a:off x="2418736" y="156246"/>
            <a:ext cx="61648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global-</a:t>
            </a:r>
            <a:r>
              <a:rPr lang="fr-FR" sz="2000" b="1" dirty="0" err="1"/>
              <a:t>setup.ts</a:t>
            </a:r>
            <a:r>
              <a:rPr lang="fr-FR" sz="2000" b="1" dirty="0"/>
              <a:t>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900182B-3CB3-08A7-1650-F95DA354A231}"/>
              </a:ext>
            </a:extLst>
          </p:cNvPr>
          <p:cNvSpPr txBox="1"/>
          <p:nvPr/>
        </p:nvSpPr>
        <p:spPr>
          <a:xfrm>
            <a:off x="7315199" y="5642047"/>
            <a:ext cx="609600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defineConfig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globalSetup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'./global-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setup.ts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r>
              <a:rPr lang="fr-FR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AACF10-27AD-0850-8CB2-9AF295A97DA4}"/>
              </a:ext>
            </a:extLst>
          </p:cNvPr>
          <p:cNvSpPr txBox="1"/>
          <p:nvPr/>
        </p:nvSpPr>
        <p:spPr>
          <a:xfrm>
            <a:off x="6253317" y="508791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 err="1"/>
              <a:t>playwright.config.ts</a:t>
            </a:r>
            <a:endParaRPr lang="fr-FR" sz="2000" b="1" dirty="0"/>
          </a:p>
        </p:txBody>
      </p:sp>
      <p:sp>
        <p:nvSpPr>
          <p:cNvPr id="10" name="Espace réservé du texte 19">
            <a:extLst>
              <a:ext uri="{FF2B5EF4-FFF2-40B4-BE49-F238E27FC236}">
                <a16:creationId xmlns:a16="http://schemas.microsoft.com/office/drawing/2014/main" id="{22C6580A-4C1E-90BC-1548-D0D6B68325BA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Global setup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63126AC7-B221-C651-7341-4BAD2D854FCB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 err="1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Debug</a:t>
            </a:r>
            <a:endParaRPr lang="fr-FR" b="1" cap="all" dirty="0">
              <a:solidFill>
                <a:srgbClr val="3B518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03D0FE3-95C9-199D-22D0-F7719AF0D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5" y="3559355"/>
            <a:ext cx="2638793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4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FE99-BCB0-C5B7-7369-59B10758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788B37-B22F-3F68-C6A8-4A35D2F285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FCF5259-098A-0CFB-9568-61C21C216560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FDE8866-6311-AF35-F3C4-E5D332A9A6CD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18F58233-DBBB-3F30-A929-3DCE6CFF87DF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E22037B4-C285-488A-59BB-EC201DC21F4E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395CA395-0491-4ABA-771F-37A05ABD374D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8D14325D-1A85-F0A3-9FED-84E404A792A1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F4BEC144-E35B-A0BC-EA7D-B8E689F2476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353D6816-30C3-B05D-C1B5-23E4D2E9F6AA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2C6E754A-1A0F-B5ED-752B-128AF6830DA0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67398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45C4C-407C-DBD3-2273-60DDE5A2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A4BC8A-F930-FA7F-CC7D-9D9A108472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E6325BAC-9FC9-1929-C379-991B1D89A73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A8CFAFC-12A2-060C-4DB0-4912D6702E30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E6861419-F93F-DBBA-66A3-EA72216D7EE4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Emulation mobile</a:t>
            </a:r>
          </a:p>
        </p:txBody>
      </p:sp>
    </p:spTree>
    <p:extLst>
      <p:ext uri="{BB962C8B-B14F-4D97-AF65-F5344CB8AC3E}">
        <p14:creationId xmlns:p14="http://schemas.microsoft.com/office/powerpoint/2010/main" val="88653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9775D3B-957D-079E-D8CD-71F0145B2849}"/>
              </a:ext>
            </a:extLst>
          </p:cNvPr>
          <p:cNvSpPr txBox="1"/>
          <p:nvPr/>
        </p:nvSpPr>
        <p:spPr>
          <a:xfrm>
            <a:off x="2788227" y="1205652"/>
            <a:ext cx="917171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L’émulation mobile permet de simuler un </a:t>
            </a:r>
            <a:r>
              <a:rPr lang="fr-FR" sz="2000" b="1" dirty="0"/>
              <a:t>smartphone ou une tablette</a:t>
            </a:r>
            <a:r>
              <a:rPr lang="fr-FR" sz="2000" dirty="0"/>
              <a:t> depuis un navigateur desktop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On peut reproduire :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2000" dirty="0"/>
              <a:t>la taille d’écran (</a:t>
            </a:r>
            <a:r>
              <a:rPr lang="fr-FR" sz="2000" dirty="0" err="1"/>
              <a:t>viewport</a:t>
            </a:r>
            <a:r>
              <a:rPr lang="fr-FR" sz="2000" dirty="0"/>
              <a:t>)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2000" dirty="0"/>
              <a:t>le user-agent (iPhone, Android…)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2000" dirty="0"/>
              <a:t>le comportement tactile (</a:t>
            </a:r>
            <a:r>
              <a:rPr lang="fr-FR" sz="2000" dirty="0" err="1"/>
              <a:t>touch</a:t>
            </a:r>
            <a:r>
              <a:rPr lang="fr-FR" sz="2000" dirty="0"/>
              <a:t> </a:t>
            </a:r>
            <a:r>
              <a:rPr lang="fr-FR" sz="2000" dirty="0" err="1"/>
              <a:t>events</a:t>
            </a:r>
            <a:r>
              <a:rPr lang="fr-FR" sz="2000" dirty="0"/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Objectif : tester un site web </a:t>
            </a:r>
            <a:r>
              <a:rPr lang="fr-FR" sz="2000" b="1" dirty="0"/>
              <a:t>comme s’il était sur mobile</a:t>
            </a:r>
            <a:r>
              <a:rPr lang="fr-FR" sz="2000" dirty="0"/>
              <a:t>, sans appareil physique </a:t>
            </a:r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dirty="0"/>
              <a:t>Utile pour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Tests responsives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A</a:t>
            </a:r>
            <a:r>
              <a:rPr lang="fr-FR" sz="2000"/>
              <a:t>utomatisation </a:t>
            </a:r>
            <a:r>
              <a:rPr lang="fr-FR" sz="2000" dirty="0"/>
              <a:t>de tests cross-</a:t>
            </a:r>
            <a:r>
              <a:rPr lang="fr-FR" sz="2000" dirty="0" err="1"/>
              <a:t>device</a:t>
            </a:r>
            <a:endParaRPr lang="fr-FR" sz="2000" dirty="0"/>
          </a:p>
          <a:p>
            <a:pPr lvl="1"/>
            <a:endParaRPr lang="fr-FR" sz="2000" dirty="0"/>
          </a:p>
          <a:p>
            <a:pPr>
              <a:buNone/>
            </a:pPr>
            <a:r>
              <a:rPr lang="fr-FR" sz="2000" dirty="0"/>
              <a:t>Limite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Ne remplace pas un vrai mobile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Utilisation de </a:t>
            </a:r>
            <a:r>
              <a:rPr lang="fr-FR" sz="2000" dirty="0" err="1"/>
              <a:t>android</a:t>
            </a:r>
            <a:r>
              <a:rPr lang="fr-FR" sz="2000" dirty="0"/>
              <a:t> studio pour le test d’application mobile (</a:t>
            </a:r>
            <a:r>
              <a:rPr lang="fr-FR" sz="2000" dirty="0" err="1"/>
              <a:t>apk</a:t>
            </a:r>
            <a:r>
              <a:rPr lang="fr-FR" sz="2000" dirty="0"/>
              <a:t>)</a:t>
            </a:r>
          </a:p>
        </p:txBody>
      </p:sp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2CAB6AC6-4A9F-CDEC-8758-56C607D14F7F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79796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Qu’est-ce que l’émulation mobile ?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04ABA3D-C32D-1015-C225-E8A57BC3411C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Emulation mobile</a:t>
            </a:r>
          </a:p>
        </p:txBody>
      </p:sp>
    </p:spTree>
    <p:extLst>
      <p:ext uri="{BB962C8B-B14F-4D97-AF65-F5344CB8AC3E}">
        <p14:creationId xmlns:p14="http://schemas.microsoft.com/office/powerpoint/2010/main" val="294312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6AF8119F-C9C9-7B19-DE25-9B734D771828}"/>
              </a:ext>
            </a:extLst>
          </p:cNvPr>
          <p:cNvSpPr txBox="1"/>
          <p:nvPr/>
        </p:nvSpPr>
        <p:spPr>
          <a:xfrm>
            <a:off x="7113637" y="2208606"/>
            <a:ext cx="3264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Définition d’un profil de mobile à utiliser pour les tests</a:t>
            </a:r>
          </a:p>
        </p:txBody>
      </p:sp>
      <p:sp>
        <p:nvSpPr>
          <p:cNvPr id="8" name="Espace réservé du texte 19">
            <a:extLst>
              <a:ext uri="{FF2B5EF4-FFF2-40B4-BE49-F238E27FC236}">
                <a16:creationId xmlns:a16="http://schemas.microsoft.com/office/drawing/2014/main" id="{E493197A-DEB0-5DDE-5086-F0D6FE99162B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900293" cy="19918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Emulation mobile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48881F-CFB3-3BF4-5C77-14D4E8ECEC06}"/>
              </a:ext>
            </a:extLst>
          </p:cNvPr>
          <p:cNvSpPr txBox="1"/>
          <p:nvPr/>
        </p:nvSpPr>
        <p:spPr>
          <a:xfrm>
            <a:off x="3303638" y="1514717"/>
            <a:ext cx="3539612" cy="154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On simule un iPhone 13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test.use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devices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'iPhone 13’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E1B550DD-11BC-3D03-2604-CD5939328D1D}"/>
              </a:ext>
            </a:extLst>
          </p:cNvPr>
          <p:cNvSpPr/>
          <p:nvPr/>
        </p:nvSpPr>
        <p:spPr>
          <a:xfrm>
            <a:off x="6872744" y="2153384"/>
            <a:ext cx="137650" cy="910911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BDE7159-040D-D61C-1A1F-5C76078B04D8}"/>
              </a:ext>
            </a:extLst>
          </p:cNvPr>
          <p:cNvSpPr txBox="1"/>
          <p:nvPr/>
        </p:nvSpPr>
        <p:spPr>
          <a:xfrm>
            <a:off x="1804330" y="4090494"/>
            <a:ext cx="814111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'la page d’accueil s’affiche correctement sur mobile'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page })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page.goto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'https://playwright.dev/'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(page).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toHaveTitle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B1045F8-D4EA-7073-0850-84357942FC5E}"/>
              </a:ext>
            </a:extLst>
          </p:cNvPr>
          <p:cNvSpPr txBox="1"/>
          <p:nvPr/>
        </p:nvSpPr>
        <p:spPr>
          <a:xfrm>
            <a:off x="1804330" y="3581896"/>
            <a:ext cx="2669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Exemple de test ensuite :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C486222-47EE-D5D0-F27D-66367753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089" y="2854937"/>
            <a:ext cx="1923210" cy="3693347"/>
          </a:xfrm>
          <a:prstGeom prst="rect">
            <a:avLst/>
          </a:prstGeom>
        </p:spPr>
      </p:pic>
      <p:sp>
        <p:nvSpPr>
          <p:cNvPr id="18" name="Titre 1">
            <a:extLst>
              <a:ext uri="{FF2B5EF4-FFF2-40B4-BE49-F238E27FC236}">
                <a16:creationId xmlns:a16="http://schemas.microsoft.com/office/drawing/2014/main" id="{1907629B-9190-6DB4-EE2E-957E3C213A1E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Emulation mobile</a:t>
            </a:r>
          </a:p>
        </p:txBody>
      </p:sp>
    </p:spTree>
    <p:extLst>
      <p:ext uri="{BB962C8B-B14F-4D97-AF65-F5344CB8AC3E}">
        <p14:creationId xmlns:p14="http://schemas.microsoft.com/office/powerpoint/2010/main" val="104769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4A5F-95C6-043D-1830-CCC1EAC3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A086A6F-E304-31ED-D3CA-61A0393267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0F51DEA-04E4-D82C-E5CB-F3EDDEA969B6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2BCADD5-4492-3222-C9AC-3A3A200AB1D9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7E08788B-2DF8-D040-24F2-CD44E1B39A6D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49691ADE-F616-2152-8AF1-84907D954440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5FB68B3E-6A84-019B-DF44-702A1C3B4722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EFF22A9C-9415-D8A3-5D20-28086907B54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C6E546B7-C71E-5A12-A9D2-6BBD3C64C3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3A05D543-9C82-0C7F-F69E-08428DDC91B0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A514F589-066C-D44C-2C06-220565334E67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Emulation Mobile</a:t>
            </a:r>
          </a:p>
        </p:txBody>
      </p:sp>
    </p:spTree>
    <p:extLst>
      <p:ext uri="{BB962C8B-B14F-4D97-AF65-F5344CB8AC3E}">
        <p14:creationId xmlns:p14="http://schemas.microsoft.com/office/powerpoint/2010/main" val="174387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5019-6D60-F264-3579-2C387501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D4EA5F-5CE4-A050-3C17-8FEDF73E95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C45E81FC-9CCE-3925-E856-9ECEACE18E4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CB562C2C-1B6D-AC83-1C15-63B55E300CD6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PLAYWRIGHT</a:t>
            </a:r>
          </a:p>
        </p:txBody>
      </p:sp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FB1CD760-D375-4ACD-C49E-1BACB8910AA0}"/>
              </a:ext>
            </a:extLst>
          </p:cNvPr>
          <p:cNvSpPr txBox="1">
            <a:spLocks/>
          </p:cNvSpPr>
          <p:nvPr/>
        </p:nvSpPr>
        <p:spPr>
          <a:xfrm>
            <a:off x="354185" y="2699281"/>
            <a:ext cx="11483629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dirty="0"/>
              <a:t>Les APIs</a:t>
            </a:r>
          </a:p>
        </p:txBody>
      </p:sp>
    </p:spTree>
    <p:extLst>
      <p:ext uri="{BB962C8B-B14F-4D97-AF65-F5344CB8AC3E}">
        <p14:creationId xmlns:p14="http://schemas.microsoft.com/office/powerpoint/2010/main" val="110234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782F70C-007E-4B89-6F51-A580103BD85D}"/>
              </a:ext>
            </a:extLst>
          </p:cNvPr>
          <p:cNvSpPr txBox="1"/>
          <p:nvPr/>
        </p:nvSpPr>
        <p:spPr>
          <a:xfrm>
            <a:off x="3667433" y="1568677"/>
            <a:ext cx="781664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dirty="0"/>
              <a:t>Pourquoi tester une API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/>
              <a:t>Vérifier le bon fonctionnement des </a:t>
            </a:r>
            <a:r>
              <a:rPr lang="fr-FR" sz="2800" dirty="0" err="1"/>
              <a:t>endpoints</a:t>
            </a:r>
            <a:r>
              <a:rPr lang="fr-FR" sz="2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/>
              <a:t>Valider les réponses HTTP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/>
              <a:t>Tester les échanges frontend/backend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/>
              <a:t>Détecter rapidement les régressions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/>
              <a:t>Automatiser les tests dans la CI/CD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54037F56-9C31-E9A9-2D7E-52E22A453E09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Introduction aux tests API avec </a:t>
            </a:r>
            <a:r>
              <a:rPr lang="fr-FR" dirty="0" err="1">
                <a:solidFill>
                  <a:srgbClr val="3B518E"/>
                </a:solidFill>
              </a:rPr>
              <a:t>Playwright</a:t>
            </a:r>
            <a:endParaRPr lang="fr-FR" dirty="0">
              <a:solidFill>
                <a:srgbClr val="3B518E"/>
              </a:solidFill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A38AFDC9-D5A7-58BF-BA33-52ADAAFC4BF7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396512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DC156F5-09F4-D821-D2C5-8A8CADF90953}"/>
              </a:ext>
            </a:extLst>
          </p:cNvPr>
          <p:cNvGraphicFramePr>
            <a:graphicFrameLocks noGrp="1"/>
          </p:cNvGraphicFramePr>
          <p:nvPr/>
        </p:nvGraphicFramePr>
        <p:xfrm>
          <a:off x="2567409" y="1867555"/>
          <a:ext cx="8621700" cy="36201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1448">
                  <a:extLst>
                    <a:ext uri="{9D8B030D-6E8A-4147-A177-3AD203B41FA5}">
                      <a16:colId xmlns:a16="http://schemas.microsoft.com/office/drawing/2014/main" val="1288701494"/>
                    </a:ext>
                  </a:extLst>
                </a:gridCol>
                <a:gridCol w="3323303">
                  <a:extLst>
                    <a:ext uri="{9D8B030D-6E8A-4147-A177-3AD203B41FA5}">
                      <a16:colId xmlns:a16="http://schemas.microsoft.com/office/drawing/2014/main" val="189200001"/>
                    </a:ext>
                  </a:extLst>
                </a:gridCol>
                <a:gridCol w="3766949">
                  <a:extLst>
                    <a:ext uri="{9D8B030D-6E8A-4147-A177-3AD203B41FA5}">
                      <a16:colId xmlns:a16="http://schemas.microsoft.com/office/drawing/2014/main" val="342990704"/>
                    </a:ext>
                  </a:extLst>
                </a:gridCol>
              </a:tblGrid>
              <a:tr h="7272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b="1" u="none" strike="noStrike" dirty="0">
                          <a:effectLst/>
                        </a:rPr>
                        <a:t>Méthode</a:t>
                      </a:r>
                      <a:endParaRPr lang="fr-FR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b="1" u="none" strike="noStrike">
                          <a:effectLst/>
                        </a:rPr>
                        <a:t>Rôle</a:t>
                      </a:r>
                      <a:endParaRPr lang="fr-FR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b="1" u="none" strike="noStrike" dirty="0">
                          <a:effectLst/>
                        </a:rPr>
                        <a:t>Exemple</a:t>
                      </a:r>
                      <a:endParaRPr lang="fr-FR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9161676"/>
                  </a:ext>
                </a:extLst>
              </a:tr>
              <a:tr h="7272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u="none" strike="noStrike">
                          <a:effectLst/>
                        </a:rPr>
                        <a:t>GET</a:t>
                      </a:r>
                      <a:endParaRPr lang="fr-FR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Lire des données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Obtenir une liste d’utilisateurs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7108756"/>
                  </a:ext>
                </a:extLst>
              </a:tr>
              <a:tr h="7272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u="none" strike="noStrike">
                          <a:effectLst/>
                        </a:rPr>
                        <a:t>POST</a:t>
                      </a:r>
                      <a:endParaRPr lang="fr-FR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>
                          <a:effectLst/>
                        </a:rPr>
                        <a:t>Créer une ressource</a:t>
                      </a:r>
                      <a:endParaRPr lang="fr-FR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Ajouter un utilisateur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71989424"/>
                  </a:ext>
                </a:extLst>
              </a:tr>
              <a:tr h="7111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u="none" strike="noStrike">
                          <a:effectLst/>
                        </a:rPr>
                        <a:t>PUT</a:t>
                      </a:r>
                      <a:endParaRPr lang="fr-FR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>
                          <a:effectLst/>
                        </a:rPr>
                        <a:t>Modifier une ressource</a:t>
                      </a:r>
                      <a:endParaRPr lang="fr-FR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Modifier un profil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4097529"/>
                  </a:ext>
                </a:extLst>
              </a:tr>
              <a:tr h="7272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DELETE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Supprimer une ressource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400" u="none" strike="noStrike" dirty="0">
                          <a:effectLst/>
                        </a:rPr>
                        <a:t>Supprimer un compte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2887932"/>
                  </a:ext>
                </a:extLst>
              </a:tr>
            </a:tbl>
          </a:graphicData>
        </a:graphic>
      </p:graphicFrame>
      <p:sp>
        <p:nvSpPr>
          <p:cNvPr id="5" name="Espace réservé du texte 19">
            <a:extLst>
              <a:ext uri="{FF2B5EF4-FFF2-40B4-BE49-F238E27FC236}">
                <a16:creationId xmlns:a16="http://schemas.microsoft.com/office/drawing/2014/main" id="{4842ACEC-C470-C153-68A2-12A1C1194508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rgbClr val="3B518E"/>
                </a:solidFill>
              </a:rPr>
              <a:t>Requète</a:t>
            </a:r>
            <a:r>
              <a:rPr lang="fr-FR" dirty="0">
                <a:solidFill>
                  <a:srgbClr val="3B518E"/>
                </a:solidFill>
              </a:rPr>
              <a:t> HTTP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C9787C2-E48C-EFD6-9288-5C5FBBBE4403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50208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3551-A930-BDC5-3B8B-0B274398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374BB6AF-BDA7-781A-5A0A-94E9545AF2C3}"/>
              </a:ext>
            </a:extLst>
          </p:cNvPr>
          <p:cNvSpPr txBox="1">
            <a:spLocks/>
          </p:cNvSpPr>
          <p:nvPr/>
        </p:nvSpPr>
        <p:spPr>
          <a:xfrm>
            <a:off x="354184" y="1066008"/>
            <a:ext cx="2852415" cy="442165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Requête API </a:t>
            </a:r>
          </a:p>
          <a:p>
            <a:r>
              <a:rPr lang="fr-FR" dirty="0">
                <a:solidFill>
                  <a:srgbClr val="3B518E"/>
                </a:solidFill>
              </a:rPr>
              <a:t>GET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0BDBBF-BD8D-CA54-5DBD-3E2323AAAF8A}"/>
              </a:ext>
            </a:extLst>
          </p:cNvPr>
          <p:cNvSpPr txBox="1"/>
          <p:nvPr/>
        </p:nvSpPr>
        <p:spPr>
          <a:xfrm>
            <a:off x="2970624" y="1370334"/>
            <a:ext cx="6096000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verify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request.get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'https://api.example.com/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/1'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expect(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response.status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toBe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body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response.json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(body.name).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toBe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(body.id).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toBe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924B80-B8D1-0DD4-3EBF-0470803283BE}"/>
              </a:ext>
            </a:extLst>
          </p:cNvPr>
          <p:cNvSpPr txBox="1"/>
          <p:nvPr/>
        </p:nvSpPr>
        <p:spPr>
          <a:xfrm>
            <a:off x="8073571" y="4358368"/>
            <a:ext cx="3616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Vérification des informations contenues dans la réponse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B44B0ED-424A-CCCD-0846-6246FED1823B}"/>
              </a:ext>
            </a:extLst>
          </p:cNvPr>
          <p:cNvSpPr txBox="1"/>
          <p:nvPr/>
        </p:nvSpPr>
        <p:spPr>
          <a:xfrm>
            <a:off x="8087039" y="1946090"/>
            <a:ext cx="6695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envoie une requête HTTP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928355D-0D55-A0FC-0FEC-3933AFAB50EA}"/>
              </a:ext>
            </a:extLst>
          </p:cNvPr>
          <p:cNvSpPr txBox="1"/>
          <p:nvPr/>
        </p:nvSpPr>
        <p:spPr>
          <a:xfrm>
            <a:off x="8073571" y="2803912"/>
            <a:ext cx="6695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Vérification du code du retour </a:t>
            </a:r>
          </a:p>
          <a:p>
            <a:r>
              <a:rPr lang="fr-FR" dirty="0"/>
              <a:t>de la réponse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CEC690-77E5-0309-588A-ED2742B856B0}"/>
              </a:ext>
            </a:extLst>
          </p:cNvPr>
          <p:cNvSpPr txBox="1"/>
          <p:nvPr/>
        </p:nvSpPr>
        <p:spPr>
          <a:xfrm>
            <a:off x="8073571" y="3629841"/>
            <a:ext cx="6695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Récupération de la réponse </a:t>
            </a:r>
          </a:p>
        </p:txBody>
      </p:sp>
      <p:sp>
        <p:nvSpPr>
          <p:cNvPr id="15" name="Accolade fermante 14">
            <a:extLst>
              <a:ext uri="{FF2B5EF4-FFF2-40B4-BE49-F238E27FC236}">
                <a16:creationId xmlns:a16="http://schemas.microsoft.com/office/drawing/2014/main" id="{991BDC3F-BB73-6791-E0AD-495961AA16CC}"/>
              </a:ext>
            </a:extLst>
          </p:cNvPr>
          <p:cNvSpPr/>
          <p:nvPr/>
        </p:nvSpPr>
        <p:spPr>
          <a:xfrm>
            <a:off x="7846148" y="1809135"/>
            <a:ext cx="117987" cy="71775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ccolade fermante 15">
            <a:extLst>
              <a:ext uri="{FF2B5EF4-FFF2-40B4-BE49-F238E27FC236}">
                <a16:creationId xmlns:a16="http://schemas.microsoft.com/office/drawing/2014/main" id="{51141CD2-5B48-5786-20BE-5A0298522735}"/>
              </a:ext>
            </a:extLst>
          </p:cNvPr>
          <p:cNvSpPr/>
          <p:nvPr/>
        </p:nvSpPr>
        <p:spPr>
          <a:xfrm>
            <a:off x="7787154" y="4423443"/>
            <a:ext cx="117987" cy="71775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B5AD3D64-DF7E-455C-C54D-1BF25FD819BC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297437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801C-F012-C920-4A26-15566FE0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8D945CAF-4C0E-2707-1495-33FB5B4C29DC}"/>
              </a:ext>
            </a:extLst>
          </p:cNvPr>
          <p:cNvSpPr txBox="1">
            <a:spLocks/>
          </p:cNvSpPr>
          <p:nvPr/>
        </p:nvSpPr>
        <p:spPr>
          <a:xfrm>
            <a:off x="354184" y="1012723"/>
            <a:ext cx="3077274" cy="447494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Requête API POST, PUT,</a:t>
            </a:r>
          </a:p>
          <a:p>
            <a:r>
              <a:rPr lang="fr-FR" dirty="0">
                <a:solidFill>
                  <a:srgbClr val="3B518E"/>
                </a:solidFill>
              </a:rPr>
              <a:t>DELETE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B8D240-6AFC-5312-0602-138383DCA87B}"/>
              </a:ext>
            </a:extLst>
          </p:cNvPr>
          <p:cNvSpPr txBox="1"/>
          <p:nvPr/>
        </p:nvSpPr>
        <p:spPr>
          <a:xfrm>
            <a:off x="3893575" y="3623394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request.put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/1'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data: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'Bob'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4CC1A7-8044-4374-51EF-176B3C3D7B64}"/>
              </a:ext>
            </a:extLst>
          </p:cNvPr>
          <p:cNvSpPr txBox="1"/>
          <p:nvPr/>
        </p:nvSpPr>
        <p:spPr>
          <a:xfrm>
            <a:off x="3814916" y="5777995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request.delete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/1'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5E1A4E8-8C77-6A61-9DED-96820431F98E}"/>
              </a:ext>
            </a:extLst>
          </p:cNvPr>
          <p:cNvSpPr txBox="1"/>
          <p:nvPr/>
        </p:nvSpPr>
        <p:spPr>
          <a:xfrm>
            <a:off x="3529781" y="82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POST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9D8778D-F686-C5B9-16AC-BDA2EDFA3293}"/>
              </a:ext>
            </a:extLst>
          </p:cNvPr>
          <p:cNvSpPr txBox="1"/>
          <p:nvPr/>
        </p:nvSpPr>
        <p:spPr>
          <a:xfrm>
            <a:off x="3529781" y="51516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Delete</a:t>
            </a:r>
            <a:endParaRPr lang="fr-FR" sz="2400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D4C7C4-89AF-0121-ED7B-B1630040A837}"/>
              </a:ext>
            </a:extLst>
          </p:cNvPr>
          <p:cNvSpPr txBox="1"/>
          <p:nvPr/>
        </p:nvSpPr>
        <p:spPr>
          <a:xfrm>
            <a:off x="3529781" y="31158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Update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02665B-74E8-6852-62AE-FDA365B811DF}"/>
              </a:ext>
            </a:extLst>
          </p:cNvPr>
          <p:cNvSpPr txBox="1"/>
          <p:nvPr/>
        </p:nvSpPr>
        <p:spPr>
          <a:xfrm>
            <a:off x="3893575" y="1341449"/>
            <a:ext cx="6808838" cy="172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response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request.post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'https://api.example.com/users'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data: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name: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age: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FA4772A1-674F-AC6D-833D-4C5347154CC8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30829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F0C9-1298-ED4E-CDEF-2B5EE4151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0C65C9CD-204F-45B5-2FF8-FEBF81C0EC34}"/>
              </a:ext>
            </a:extLst>
          </p:cNvPr>
          <p:cNvSpPr txBox="1">
            <a:spLocks/>
          </p:cNvSpPr>
          <p:nvPr/>
        </p:nvSpPr>
        <p:spPr>
          <a:xfrm>
            <a:off x="354184" y="1012723"/>
            <a:ext cx="3077274" cy="447494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Requête API POST, PUT,</a:t>
            </a:r>
          </a:p>
          <a:p>
            <a:r>
              <a:rPr lang="fr-FR" dirty="0">
                <a:solidFill>
                  <a:srgbClr val="3B518E"/>
                </a:solidFill>
              </a:rPr>
              <a:t>DELETE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B7A12FE-47D9-368E-A43C-A842E69E8380}"/>
              </a:ext>
            </a:extLst>
          </p:cNvPr>
          <p:cNvSpPr txBox="1"/>
          <p:nvPr/>
        </p:nvSpPr>
        <p:spPr>
          <a:xfrm>
            <a:off x="3893575" y="3623394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request.put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/1'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data: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'Bob'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1299040-FC0B-E671-C348-C75C57333036}"/>
              </a:ext>
            </a:extLst>
          </p:cNvPr>
          <p:cNvSpPr txBox="1"/>
          <p:nvPr/>
        </p:nvSpPr>
        <p:spPr>
          <a:xfrm>
            <a:off x="3814916" y="5777995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request.delete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/1'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DA361E4-B1A3-D9F7-EBC0-F47C706BD8E8}"/>
              </a:ext>
            </a:extLst>
          </p:cNvPr>
          <p:cNvSpPr txBox="1"/>
          <p:nvPr/>
        </p:nvSpPr>
        <p:spPr>
          <a:xfrm>
            <a:off x="3529781" y="82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POST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A3F6155-2342-B98A-DCA5-703E4202AE60}"/>
              </a:ext>
            </a:extLst>
          </p:cNvPr>
          <p:cNvSpPr txBox="1"/>
          <p:nvPr/>
        </p:nvSpPr>
        <p:spPr>
          <a:xfrm>
            <a:off x="3529781" y="51516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Delete</a:t>
            </a:r>
            <a:endParaRPr lang="fr-FR" sz="2400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BD8B596-DB77-ACA8-4701-B17E10333BDF}"/>
              </a:ext>
            </a:extLst>
          </p:cNvPr>
          <p:cNvSpPr txBox="1"/>
          <p:nvPr/>
        </p:nvSpPr>
        <p:spPr>
          <a:xfrm>
            <a:off x="3529781" y="31158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Update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BB6329-2F56-BB2C-D76C-3D66E728AFF3}"/>
              </a:ext>
            </a:extLst>
          </p:cNvPr>
          <p:cNvSpPr txBox="1"/>
          <p:nvPr/>
        </p:nvSpPr>
        <p:spPr>
          <a:xfrm>
            <a:off x="3893575" y="1341449"/>
            <a:ext cx="6808838" cy="172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response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request.post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'https://api.example.com/users'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data: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name: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age: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94F721A-3658-51A3-7F4A-6F71D9F1BA80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</p:spTree>
    <p:extLst>
      <p:ext uri="{BB962C8B-B14F-4D97-AF65-F5344CB8AC3E}">
        <p14:creationId xmlns:p14="http://schemas.microsoft.com/office/powerpoint/2010/main" val="142148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646A-6D14-A05B-16F8-A8F74910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C3A787A0-844D-B865-FEB4-501EC35AB730}"/>
              </a:ext>
            </a:extLst>
          </p:cNvPr>
          <p:cNvSpPr txBox="1">
            <a:spLocks/>
          </p:cNvSpPr>
          <p:nvPr/>
        </p:nvSpPr>
        <p:spPr>
          <a:xfrm>
            <a:off x="354184" y="1012723"/>
            <a:ext cx="3077274" cy="447494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B518E"/>
                </a:solidFill>
              </a:rPr>
              <a:t>Requête API POST, PUT,</a:t>
            </a:r>
          </a:p>
          <a:p>
            <a:r>
              <a:rPr lang="fr-FR" dirty="0">
                <a:solidFill>
                  <a:srgbClr val="3B518E"/>
                </a:solidFill>
              </a:rPr>
              <a:t>DELETE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68E283-5550-6C07-A0F3-EC9630C56AEE}"/>
              </a:ext>
            </a:extLst>
          </p:cNvPr>
          <p:cNvSpPr txBox="1"/>
          <p:nvPr/>
        </p:nvSpPr>
        <p:spPr>
          <a:xfrm>
            <a:off x="3529781" y="82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Ajouter un </a:t>
            </a:r>
            <a:r>
              <a:rPr lang="fr-FR" sz="2400" b="1" dirty="0" err="1"/>
              <a:t>bearer</a:t>
            </a:r>
            <a:endParaRPr lang="fr-FR" sz="2400" b="1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8200DCAF-8E3F-38C8-3E05-C0E8F0293D0B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5429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rgbClr val="141E26"/>
                </a:solidFill>
              </a:rPr>
              <a:t>Playwright</a:t>
            </a:r>
            <a:endParaRPr lang="fr-FR" dirty="0">
              <a:solidFill>
                <a:srgbClr val="141E26"/>
              </a:solidFill>
            </a:endParaRPr>
          </a:p>
          <a:p>
            <a:r>
              <a:rPr lang="fr-FR" b="1" cap="all" dirty="0">
                <a:solidFill>
                  <a:srgbClr val="3B51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ASSERTIONS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CDEBCEA-9E9D-6560-C164-8577C212B9D6}"/>
              </a:ext>
            </a:extLst>
          </p:cNvPr>
          <p:cNvSpPr txBox="1"/>
          <p:nvPr/>
        </p:nvSpPr>
        <p:spPr>
          <a:xfrm>
            <a:off x="3531711" y="2370682"/>
            <a:ext cx="6094070" cy="315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Contexte authentifié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apiContext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request.newContext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extraHTTPHeaders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Authorization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`Bearer 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Toutes les requêtes auront le </a:t>
            </a:r>
            <a:r>
              <a:rPr lang="fr-F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bearer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apiContext.get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'https://213.32.21.110/api/</a:t>
            </a:r>
            <a:r>
              <a:rPr lang="fr-F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8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1180-5E64-32B4-71C7-A4F355BB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B0346CC-AD03-80DB-F503-E0349CF3A2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r="1"/>
          <a:stretch/>
        </p:blipFill>
        <p:spPr>
          <a:xfrm>
            <a:off x="0" y="3002"/>
            <a:ext cx="12192000" cy="684306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502F229-7341-BFA0-6FBA-22A8040EBF99}"/>
              </a:ext>
            </a:extLst>
          </p:cNvPr>
          <p:cNvSpPr/>
          <p:nvPr/>
        </p:nvSpPr>
        <p:spPr>
          <a:xfrm>
            <a:off x="0" y="11936"/>
            <a:ext cx="12192000" cy="6858000"/>
          </a:xfrm>
          <a:prstGeom prst="rect">
            <a:avLst/>
          </a:prstGeom>
          <a:solidFill>
            <a:srgbClr val="011F3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BDDDF9D-35A0-9AA7-48E0-DCBBE2042A18}"/>
              </a:ext>
            </a:extLst>
          </p:cNvPr>
          <p:cNvGrpSpPr/>
          <p:nvPr/>
        </p:nvGrpSpPr>
        <p:grpSpPr>
          <a:xfrm>
            <a:off x="-1" y="0"/>
            <a:ext cx="3657600" cy="6858001"/>
            <a:chOff x="-1" y="0"/>
            <a:chExt cx="4292084" cy="6858001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C2BF011D-4300-73FC-46DE-79D1EAEBE2D6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065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Triangle rectangle 17">
              <a:extLst>
                <a:ext uri="{FF2B5EF4-FFF2-40B4-BE49-F238E27FC236}">
                  <a16:creationId xmlns:a16="http://schemas.microsoft.com/office/drawing/2014/main" id="{C4671594-A4DD-E1B2-3F58-0ACA45618D98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Triangle rectangle 18">
              <a:extLst>
                <a:ext uri="{FF2B5EF4-FFF2-40B4-BE49-F238E27FC236}">
                  <a16:creationId xmlns:a16="http://schemas.microsoft.com/office/drawing/2014/main" id="{A2FF03FD-8435-E54C-9A78-EF466B72FFC4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06516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Titre 1">
            <a:extLst>
              <a:ext uri="{FF2B5EF4-FFF2-40B4-BE49-F238E27FC236}">
                <a16:creationId xmlns:a16="http://schemas.microsoft.com/office/drawing/2014/main" id="{2A2CE6CD-E40F-38AA-8E77-567B8FB7F8FD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>
                <a:solidFill>
                  <a:schemeClr val="bg1"/>
                </a:solidFill>
              </a:rPr>
              <a:t>Java </a:t>
            </a:r>
            <a:r>
              <a:rPr lang="fr-FR" err="1">
                <a:solidFill>
                  <a:schemeClr val="bg1"/>
                </a:solidFill>
              </a:rPr>
              <a:t>Frameworks</a:t>
            </a:r>
            <a:endParaRPr lang="fr-FR">
              <a:solidFill>
                <a:schemeClr val="bg1"/>
              </a:solidFill>
            </a:endParaRPr>
          </a:p>
          <a:p>
            <a:r>
              <a:rPr lang="fr-FR" b="1" cap="all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et rappels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DD4EC9D5-27D9-582A-90DC-7EA317DBD81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C74CC6E8-703E-B4B8-79C6-C4A085F7214C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/>
              <a:t>DÉMONSTRATION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E14865B8-25D0-0BDD-42BA-FD431A68065A}"/>
              </a:ext>
            </a:extLst>
          </p:cNvPr>
          <p:cNvSpPr txBox="1">
            <a:spLocks/>
          </p:cNvSpPr>
          <p:nvPr/>
        </p:nvSpPr>
        <p:spPr>
          <a:xfrm>
            <a:off x="4011784" y="3027742"/>
            <a:ext cx="7826030" cy="1014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Interrogation d’une API</a:t>
            </a:r>
          </a:p>
          <a:p>
            <a:pPr algn="ctr"/>
            <a:r>
              <a:rPr lang="fr-FR" sz="2000" dirty="0">
                <a:hlinkClick r:id="rId5"/>
              </a:rPr>
              <a:t>API Découpage administratif &gt; Communes | geo.api.gouv.fr</a:t>
            </a:r>
            <a:endParaRPr lang="fr-FR" sz="2000" b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5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4EE107-DE52-45D1-AE2A-B660937448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4B8AE3F-44D0-4D41-9A92-0871B449521A}"/>
              </a:ext>
            </a:extLst>
          </p:cNvPr>
          <p:cNvSpPr txBox="1">
            <a:spLocks/>
          </p:cNvSpPr>
          <p:nvPr/>
        </p:nvSpPr>
        <p:spPr>
          <a:xfrm>
            <a:off x="3825174" y="428630"/>
            <a:ext cx="8012641" cy="43869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>
                <a:solidFill>
                  <a:srgbClr val="222933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Playwright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TRAVAUX PRATIQUES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3ECC1C3A-EA26-42AD-BEC3-DCF5FBAA17F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85" y="6124782"/>
            <a:ext cx="528776" cy="528776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CA87ACD9-9501-4914-9AF7-734A0CE98A1E}"/>
              </a:ext>
            </a:extLst>
          </p:cNvPr>
          <p:cNvGrpSpPr/>
          <p:nvPr/>
        </p:nvGrpSpPr>
        <p:grpSpPr>
          <a:xfrm>
            <a:off x="-1" y="0"/>
            <a:ext cx="3667688" cy="6858001"/>
            <a:chOff x="-1" y="0"/>
            <a:chExt cx="4292084" cy="6858001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E9668646-BB57-44D5-B3AD-D41A2819F6D5}"/>
                </a:ext>
              </a:extLst>
            </p:cNvPr>
            <p:cNvSpPr/>
            <p:nvPr/>
          </p:nvSpPr>
          <p:spPr>
            <a:xfrm>
              <a:off x="-1" y="0"/>
              <a:ext cx="4292083" cy="6858000"/>
            </a:xfrm>
            <a:prstGeom prst="homePlate">
              <a:avLst>
                <a:gd name="adj" fmla="val 50658"/>
              </a:avLst>
            </a:prstGeom>
            <a:solidFill>
              <a:srgbClr val="95B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Triangle rectangle 10">
              <a:extLst>
                <a:ext uri="{FF2B5EF4-FFF2-40B4-BE49-F238E27FC236}">
                  <a16:creationId xmlns:a16="http://schemas.microsoft.com/office/drawing/2014/main" id="{FFE09F08-71C7-4A97-A191-324E04ACC962}"/>
                </a:ext>
              </a:extLst>
            </p:cNvPr>
            <p:cNvSpPr/>
            <p:nvPr/>
          </p:nvSpPr>
          <p:spPr>
            <a:xfrm>
              <a:off x="0" y="2699281"/>
              <a:ext cx="4292082" cy="4158720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Triangle rectangle 11">
              <a:extLst>
                <a:ext uri="{FF2B5EF4-FFF2-40B4-BE49-F238E27FC236}">
                  <a16:creationId xmlns:a16="http://schemas.microsoft.com/office/drawing/2014/main" id="{F42378E0-E684-424E-9DF7-9D5A5C1D6E47}"/>
                </a:ext>
              </a:extLst>
            </p:cNvPr>
            <p:cNvSpPr/>
            <p:nvPr/>
          </p:nvSpPr>
          <p:spPr>
            <a:xfrm rot="5400000">
              <a:off x="-68820" y="80756"/>
              <a:ext cx="4429722" cy="4292084"/>
            </a:xfrm>
            <a:prstGeom prst="rtTriangle">
              <a:avLst/>
            </a:prstGeom>
            <a:solidFill>
              <a:srgbClr val="95B25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F370911A-DC8A-44E7-BC5B-3A98548EDA9D}"/>
              </a:ext>
            </a:extLst>
          </p:cNvPr>
          <p:cNvSpPr txBox="1">
            <a:spLocks/>
          </p:cNvSpPr>
          <p:nvPr/>
        </p:nvSpPr>
        <p:spPr>
          <a:xfrm>
            <a:off x="354186" y="1218171"/>
            <a:ext cx="3116800" cy="442165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TRAVAUX PRATIQUES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6614C64F-9DF6-4D1B-806D-41615B1F7D6C}"/>
              </a:ext>
            </a:extLst>
          </p:cNvPr>
          <p:cNvSpPr txBox="1">
            <a:spLocks/>
          </p:cNvSpPr>
          <p:nvPr/>
        </p:nvSpPr>
        <p:spPr>
          <a:xfrm>
            <a:off x="4021872" y="2699281"/>
            <a:ext cx="781594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4400" b="0" dirty="0">
                <a:latin typeface="Segoe UI Light" panose="020B0502040204020203" pitchFamily="34" charset="0"/>
                <a:cs typeface="Segoe UI Light" panose="020B0502040204020203" pitchFamily="34" charset="0"/>
              </a:rPr>
              <a:t>TP API</a:t>
            </a:r>
          </a:p>
        </p:txBody>
      </p:sp>
    </p:spTree>
    <p:extLst>
      <p:ext uri="{BB962C8B-B14F-4D97-AF65-F5344CB8AC3E}">
        <p14:creationId xmlns:p14="http://schemas.microsoft.com/office/powerpoint/2010/main" val="202329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THÈME OFFICE" val="RIT6VH5m"/>
  <p:tag name="ARTICULATE_DESIGN_ID_1_THÈME OFFICE" val="R66cABEG"/>
  <p:tag name="ARTICULATE_SLIDE_COUNT" val="20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I-ecole-Informatique-Charte_Graphique-v2023.potx" id="{8DF23D5A-EBA0-4384-9913-53A09D13838D}" vid="{220E91A7-61C3-4B73-AA27-DB095AB2A8A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EB700D519E354A8278F44402E82C68" ma:contentTypeVersion="12" ma:contentTypeDescription="Crée un document." ma:contentTypeScope="" ma:versionID="293604171b80caa5fef3914c96f43c44">
  <xsd:schema xmlns:xsd="http://www.w3.org/2001/XMLSchema" xmlns:xs="http://www.w3.org/2001/XMLSchema" xmlns:p="http://schemas.microsoft.com/office/2006/metadata/properties" xmlns:ns2="6585a854-9dfa-4630-8e10-ac55423c26e9" xmlns:ns3="cd98d4de-4e13-48f4-9543-2e739cdf8106" targetNamespace="http://schemas.microsoft.com/office/2006/metadata/properties" ma:root="true" ma:fieldsID="1ad626e6951def4016fd4bf7aba6463b" ns2:_="" ns3:_="">
    <xsd:import namespace="6585a854-9dfa-4630-8e10-ac55423c26e9"/>
    <xsd:import namespace="cd98d4de-4e13-48f4-9543-2e739cdf81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Typededoc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85a854-9dfa-4630-8e10-ac55423c26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913a2dd-6951-4a39-aa24-921745c2a7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Typededocs" ma:index="19" nillable="true" ma:displayName="Type de docs" ma:format="Dropdown" ma:internalName="Typededocs">
      <xsd:simpleType>
        <xsd:restriction base="dms:Choice">
          <xsd:enumeration value="IMPORTANT"/>
          <xsd:enumeration value="INFOS &amp; CONSEILS"/>
          <xsd:enumeration value="RDV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98d4de-4e13-48f4-9543-2e739cdf810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86f798-0cdd-4085-9524-6c7b38442905}" ma:internalName="TaxCatchAll" ma:showField="CatchAllData" ma:web="cd98d4de-4e13-48f4-9543-2e739cdf81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85a854-9dfa-4630-8e10-ac55423c26e9">
      <Terms xmlns="http://schemas.microsoft.com/office/infopath/2007/PartnerControls"/>
    </lcf76f155ced4ddcb4097134ff3c332f>
    <TaxCatchAll xmlns="cd98d4de-4e13-48f4-9543-2e739cdf8106" xsi:nil="true"/>
    <Typededocs xmlns="6585a854-9dfa-4630-8e10-ac55423c26e9" xsi:nil="true"/>
  </documentManagement>
</p:properties>
</file>

<file path=customXml/itemProps1.xml><?xml version="1.0" encoding="utf-8"?>
<ds:datastoreItem xmlns:ds="http://schemas.openxmlformats.org/officeDocument/2006/customXml" ds:itemID="{792112B7-675F-4876-9B67-FE360DED35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5E3ED7-FCFB-4A29-9F45-3D3725C2FBE8}"/>
</file>

<file path=customXml/itemProps3.xml><?xml version="1.0" encoding="utf-8"?>
<ds:datastoreItem xmlns:ds="http://schemas.openxmlformats.org/officeDocument/2006/customXml" ds:itemID="{E0744E35-8DFE-42FB-9B27-EF60FB2821E4}">
  <ds:schemaRefs>
    <ds:schemaRef ds:uri="45fedd39-d1ca-4016-b103-2501330291ba"/>
    <ds:schemaRef ds:uri="61460818-a623-4a49-99d3-7204c777f3bd"/>
    <ds:schemaRef ds:uri="84f17460-2ce9-4a13-ba7e-618f50074c06"/>
    <ds:schemaRef ds:uri="ba394ada-9c4d-4f3d-881a-7e9f447e96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ENI-ecole-Informatique-Charte_Graphique-v2023</Template>
  <TotalTime>120</TotalTime>
  <Words>4121</Words>
  <Application>Microsoft Office PowerPoint</Application>
  <PresentationFormat>Grand écran</PresentationFormat>
  <Paragraphs>908</Paragraphs>
  <Slides>95</Slides>
  <Notes>51</Notes>
  <HiddenSlides>1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95</vt:i4>
      </vt:variant>
    </vt:vector>
  </HeadingPairs>
  <TitlesOfParts>
    <vt:vector size="106" baseType="lpstr">
      <vt:lpstr>Arial</vt:lpstr>
      <vt:lpstr>Courier New</vt:lpstr>
      <vt:lpstr>Source Sans Pro</vt:lpstr>
      <vt:lpstr>Segoe UI Light</vt:lpstr>
      <vt:lpstr>Consolas</vt:lpstr>
      <vt:lpstr>Aptos</vt:lpstr>
      <vt:lpstr>Calibri</vt:lpstr>
      <vt:lpstr>Symbol</vt:lpstr>
      <vt:lpstr>Aptos Narrow</vt:lpstr>
      <vt:lpstr>Segoe UI</vt:lpstr>
      <vt:lpstr>Thème Office</vt:lpstr>
      <vt:lpstr>Playwright</vt:lpstr>
      <vt:lpstr>Présentation PowerPoint</vt:lpstr>
      <vt:lpstr>Découvrir le test automatisé avec Playwright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 de la formation</dc:title>
  <dc:creator>Nathalie HERVOCHE</dc:creator>
  <cp:lastModifiedBy>Julien DENIS</cp:lastModifiedBy>
  <cp:revision>74</cp:revision>
  <dcterms:created xsi:type="dcterms:W3CDTF">2023-01-06T06:52:31Z</dcterms:created>
  <dcterms:modified xsi:type="dcterms:W3CDTF">2026-07-03T14:58:14Z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f66734b3-83b1-41cc-940e-f23d0c158fc1</vt:lpwstr>
  </property>
  <property fmtid="{D5CDD505-2E9C-101B-9397-08002B2CF9AE}" pid="3" name="ContentTypeId">
    <vt:lpwstr>0x01010056EB700D519E354A8278F44402E82C68</vt:lpwstr>
  </property>
  <property fmtid="{D5CDD505-2E9C-101B-9397-08002B2CF9AE}" pid="4" name="ArticulateGUID">
    <vt:lpwstr>4C016939-3D63-4BD5-8C4B-0D84325C8D72</vt:lpwstr>
  </property>
  <property fmtid="{D5CDD505-2E9C-101B-9397-08002B2CF9AE}" pid="5" name="ArticulatePath">
    <vt:lpwstr>débuter_powerapps_video_ENI</vt:lpwstr>
  </property>
  <property fmtid="{D5CDD505-2E9C-101B-9397-08002B2CF9AE}" pid="6" name="MediaServiceImageTags">
    <vt:lpwstr/>
  </property>
</Properties>
</file>